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75" r:id="rId4"/>
    <p:sldId id="269" r:id="rId5"/>
    <p:sldId id="270" r:id="rId6"/>
    <p:sldId id="259" r:id="rId7"/>
    <p:sldId id="264" r:id="rId8"/>
    <p:sldId id="265" r:id="rId9"/>
    <p:sldId id="266" r:id="rId10"/>
    <p:sldId id="271" r:id="rId11"/>
    <p:sldId id="272" r:id="rId12"/>
    <p:sldId id="274" r:id="rId13"/>
    <p:sldId id="27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555B8E-638D-45FA-9D9D-3A4D71577D8E}" v="240" dt="2025-09-27T05:33:15.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6DBC5-D3E6-1361-62CD-04A7FBEDBF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AE9A22-F6B9-C20F-8571-72F0DDBED1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CF16B1-43CC-98FD-D440-B7C84E338D9B}"/>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5" name="Footer Placeholder 4">
            <a:extLst>
              <a:ext uri="{FF2B5EF4-FFF2-40B4-BE49-F238E27FC236}">
                <a16:creationId xmlns:a16="http://schemas.microsoft.com/office/drawing/2014/main" id="{374925F7-6390-5D1F-6172-A2DCB62DC7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0E26F1-382D-073D-DC9A-A3E88045B47C}"/>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1412929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9B47-57DF-C467-46B0-6C520CACFC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9844C-D943-0BAC-D94C-A4EF1358D0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69F318-F561-AD09-827B-1416E03B8A2A}"/>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5" name="Footer Placeholder 4">
            <a:extLst>
              <a:ext uri="{FF2B5EF4-FFF2-40B4-BE49-F238E27FC236}">
                <a16:creationId xmlns:a16="http://schemas.microsoft.com/office/drawing/2014/main" id="{379F8269-7DD9-A037-1F48-4C6847C3B5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450177-A77B-BC67-B289-FF91A413C906}"/>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244832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AEEA4-C492-6356-EB20-28B7A1A689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D58117-B246-1D4D-4FC5-D60735F2D7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28F145-6B6D-ABDB-D534-4D76D1FEBA2F}"/>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5" name="Footer Placeholder 4">
            <a:extLst>
              <a:ext uri="{FF2B5EF4-FFF2-40B4-BE49-F238E27FC236}">
                <a16:creationId xmlns:a16="http://schemas.microsoft.com/office/drawing/2014/main" id="{F70B6D56-26F3-6880-65F8-8FD6D20C66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B57798-657C-6ED4-40EF-A0CB4D5F8EA5}"/>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1984480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3117-DB2E-6EF6-A967-A8FB5F58EF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E1BCF9-E8DB-A3EA-BC75-796ED06BC3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8F4B4D-053C-A899-8CB5-52442B2FCC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FC51FB-CDE4-A8E4-8F93-A125F192C655}"/>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6" name="Footer Placeholder 5">
            <a:extLst>
              <a:ext uri="{FF2B5EF4-FFF2-40B4-BE49-F238E27FC236}">
                <a16:creationId xmlns:a16="http://schemas.microsoft.com/office/drawing/2014/main" id="{0617DC28-583F-F678-EE7F-60CF5E165C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301FDE-CFCD-9DC0-FCBB-CB8586E01B4A}"/>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453353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2129-E79D-9DFE-C5AA-D952A65D0D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ADF00B-F67C-8786-6577-CD42616951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0D70D4-1C70-F7AD-A392-9ED23075EB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F3D989-4FAF-B41E-B833-FBD1419164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7B7204-BB67-FAA4-341B-3F38C4AF3F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B64DC5-B502-5536-6E50-13574D45CE39}"/>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8" name="Footer Placeholder 7">
            <a:extLst>
              <a:ext uri="{FF2B5EF4-FFF2-40B4-BE49-F238E27FC236}">
                <a16:creationId xmlns:a16="http://schemas.microsoft.com/office/drawing/2014/main" id="{29DCAD9E-D83B-129A-0963-90FF6C9AAA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7B8440-2FCE-33C9-B58B-F67A56FA16FA}"/>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524257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B396-67D7-8736-0467-681F06CCCF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4409121-D8C7-36DD-EEDB-B3095F508A84}"/>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4" name="Footer Placeholder 3">
            <a:extLst>
              <a:ext uri="{FF2B5EF4-FFF2-40B4-BE49-F238E27FC236}">
                <a16:creationId xmlns:a16="http://schemas.microsoft.com/office/drawing/2014/main" id="{BAFEA389-7DE8-9740-8A1E-9AE4E978AB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A7EEE1-696D-0612-4B29-B0DF133A3AD7}"/>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917636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6B9F6-7F20-D88F-1A72-2063201E5905}"/>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3" name="Footer Placeholder 2">
            <a:extLst>
              <a:ext uri="{FF2B5EF4-FFF2-40B4-BE49-F238E27FC236}">
                <a16:creationId xmlns:a16="http://schemas.microsoft.com/office/drawing/2014/main" id="{39E4F72D-D6B3-888D-C043-485391B9E0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112B2F-7012-EAD5-742B-E5BC8550777A}"/>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879047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0CFD6-8A3B-FD3A-4441-95E3F4276D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ADA4EC-AC00-DA82-CC61-2A025C071E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F43FC9-51E2-AC85-DAD6-9FB308D837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E80668-D5D4-9E98-6B55-3A5A28462783}"/>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6" name="Footer Placeholder 5">
            <a:extLst>
              <a:ext uri="{FF2B5EF4-FFF2-40B4-BE49-F238E27FC236}">
                <a16:creationId xmlns:a16="http://schemas.microsoft.com/office/drawing/2014/main" id="{BB05B9BB-CC81-7ADB-EF4B-A8419AA67E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39EE77-1E23-9FF2-B04F-AE9BC81630B9}"/>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118238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48F13-F39A-1516-1AD0-104F1B07D9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65C80F-1F61-31F5-04BA-A9716BEA91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D4F33F-282E-8CB2-DE00-444AE7F9E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541831-43B9-9D9C-022C-05B6606CE00C}"/>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6" name="Footer Placeholder 5">
            <a:extLst>
              <a:ext uri="{FF2B5EF4-FFF2-40B4-BE49-F238E27FC236}">
                <a16:creationId xmlns:a16="http://schemas.microsoft.com/office/drawing/2014/main" id="{1310324F-45EC-5A64-C036-0BCAD7D99E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950B9F-7DD4-432F-7DBC-CBF4AFE00711}"/>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587281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01538-2DD6-3DCB-150B-A4EDED79A2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659A44-3AB6-B329-D143-19E7240286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C7EA54-8081-38DA-9200-0F422999D1EB}"/>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5" name="Footer Placeholder 4">
            <a:extLst>
              <a:ext uri="{FF2B5EF4-FFF2-40B4-BE49-F238E27FC236}">
                <a16:creationId xmlns:a16="http://schemas.microsoft.com/office/drawing/2014/main" id="{C9E12C58-53F6-7630-280C-24C5D7ADEB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276F02-FFE0-0222-EBD8-AEC59E1B6976}"/>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2928456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1A7562-BDA6-53A4-6AB6-2FBD366204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21D28F-1A00-5415-CDE1-9E95CD97F0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A7A8C-D088-FC12-54A3-4953D08902BE}"/>
              </a:ext>
            </a:extLst>
          </p:cNvPr>
          <p:cNvSpPr>
            <a:spLocks noGrp="1"/>
          </p:cNvSpPr>
          <p:nvPr>
            <p:ph type="dt" sz="half" idx="10"/>
          </p:nvPr>
        </p:nvSpPr>
        <p:spPr/>
        <p:txBody>
          <a:bodyPr/>
          <a:lstStyle/>
          <a:p>
            <a:fld id="{C7137AFE-F5AA-42DB-8CD6-5C06D96DEAE5}" type="datetimeFigureOut">
              <a:rPr lang="en-IN" smtClean="0"/>
              <a:t>13-01-2026</a:t>
            </a:fld>
            <a:endParaRPr lang="en-IN"/>
          </a:p>
        </p:txBody>
      </p:sp>
      <p:sp>
        <p:nvSpPr>
          <p:cNvPr id="5" name="Footer Placeholder 4">
            <a:extLst>
              <a:ext uri="{FF2B5EF4-FFF2-40B4-BE49-F238E27FC236}">
                <a16:creationId xmlns:a16="http://schemas.microsoft.com/office/drawing/2014/main" id="{33B904FB-CC8B-AC7D-B97F-08FDC0552A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F3D34D-7F85-CF42-6C1A-6FF37A7FC65D}"/>
              </a:ext>
            </a:extLst>
          </p:cNvPr>
          <p:cNvSpPr>
            <a:spLocks noGrp="1"/>
          </p:cNvSpPr>
          <p:nvPr>
            <p:ph type="sldNum" sz="quarter" idx="12"/>
          </p:nvPr>
        </p:nvSpPr>
        <p:spPr/>
        <p:txBody>
          <a:bodyPr/>
          <a:lstStyle/>
          <a:p>
            <a:fld id="{C8030A89-C7FF-48EA-A595-1BA5BA78F925}" type="slidenum">
              <a:rPr lang="en-IN" smtClean="0"/>
              <a:t>‹#›</a:t>
            </a:fld>
            <a:endParaRPr lang="en-IN"/>
          </a:p>
        </p:txBody>
      </p:sp>
    </p:spTree>
    <p:extLst>
      <p:ext uri="{BB962C8B-B14F-4D97-AF65-F5344CB8AC3E}">
        <p14:creationId xmlns:p14="http://schemas.microsoft.com/office/powerpoint/2010/main" val="4133978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AB2878-8518-A670-B506-D8294413F5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AE13ED-A028-9F07-F6B5-CE04003828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DF0FC9-4505-CE47-8050-EE89779BC7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137AFE-F5AA-42DB-8CD6-5C06D96DEAE5}" type="datetimeFigureOut">
              <a:rPr lang="en-IN" smtClean="0"/>
              <a:t>13-01-2026</a:t>
            </a:fld>
            <a:endParaRPr lang="en-IN"/>
          </a:p>
        </p:txBody>
      </p:sp>
      <p:sp>
        <p:nvSpPr>
          <p:cNvPr id="5" name="Footer Placeholder 4">
            <a:extLst>
              <a:ext uri="{FF2B5EF4-FFF2-40B4-BE49-F238E27FC236}">
                <a16:creationId xmlns:a16="http://schemas.microsoft.com/office/drawing/2014/main" id="{87EB1F84-666B-EE4B-F68F-A2B847396B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8020536-9C06-5E8B-865B-748FD4521E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030A89-C7FF-48EA-A595-1BA5BA78F925}" type="slidenum">
              <a:rPr lang="en-IN" smtClean="0"/>
              <a:t>‹#›</a:t>
            </a:fld>
            <a:endParaRPr lang="en-IN"/>
          </a:p>
        </p:txBody>
      </p:sp>
    </p:spTree>
    <p:extLst>
      <p:ext uri="{BB962C8B-B14F-4D97-AF65-F5344CB8AC3E}">
        <p14:creationId xmlns:p14="http://schemas.microsoft.com/office/powerpoint/2010/main" val="2916678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84BB325-B67F-521B-463C-37C29F87AE20}"/>
              </a:ext>
            </a:extLst>
          </p:cNvPr>
          <p:cNvSpPr txBox="1"/>
          <p:nvPr/>
        </p:nvSpPr>
        <p:spPr>
          <a:xfrm>
            <a:off x="3239729" y="1962786"/>
            <a:ext cx="5712542" cy="1569660"/>
          </a:xfrm>
          <a:prstGeom prst="rect">
            <a:avLst/>
          </a:prstGeom>
          <a:noFill/>
        </p:spPr>
        <p:txBody>
          <a:bodyPr wrap="square" rtlCol="0">
            <a:spAutoFit/>
          </a:bodyPr>
          <a:lstStyle/>
          <a:p>
            <a:r>
              <a:rPr lang="en-IN" sz="4800" b="1" dirty="0">
                <a:solidFill>
                  <a:schemeClr val="tx1">
                    <a:lumMod val="75000"/>
                    <a:lumOff val="25000"/>
                  </a:schemeClr>
                </a:solidFill>
                <a:latin typeface="Arial Black" panose="020B0A04020102020204" pitchFamily="34" charset="0"/>
              </a:rPr>
              <a:t>SUPPLY  CHAIN MANAGEMENT</a:t>
            </a:r>
          </a:p>
        </p:txBody>
      </p:sp>
      <p:pic>
        <p:nvPicPr>
          <p:cNvPr id="8" name="Picture 7" descr="A black and white background with gears and symbols&#10;&#10;AI-generated content may be incorrect.">
            <a:extLst>
              <a:ext uri="{FF2B5EF4-FFF2-40B4-BE49-F238E27FC236}">
                <a16:creationId xmlns:a16="http://schemas.microsoft.com/office/drawing/2014/main" id="{81B47A4D-6FB9-2F2B-658A-9C08DDB40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9B0DECA4-DCA5-706E-8086-6BB430846E63}"/>
              </a:ext>
            </a:extLst>
          </p:cNvPr>
          <p:cNvSpPr txBox="1"/>
          <p:nvPr/>
        </p:nvSpPr>
        <p:spPr>
          <a:xfrm>
            <a:off x="3333136" y="2267586"/>
            <a:ext cx="5191433" cy="156966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4800" dirty="0">
                <a:latin typeface="Stencil" panose="040409050D0802020404" pitchFamily="82" charset="0"/>
              </a:rPr>
              <a:t>SUPPLY </a:t>
            </a:r>
            <a:r>
              <a:rPr lang="en-IN" sz="4800">
                <a:latin typeface="Stencil" panose="040409050D0802020404" pitchFamily="82" charset="0"/>
              </a:rPr>
              <a:t>CHAIN MANAGEMENT</a:t>
            </a:r>
            <a:endParaRPr lang="en-IN" sz="4800" dirty="0">
              <a:latin typeface="Stencil" panose="040409050D0802020404" pitchFamily="82" charset="0"/>
            </a:endParaRPr>
          </a:p>
        </p:txBody>
      </p:sp>
    </p:spTree>
    <p:extLst>
      <p:ext uri="{BB962C8B-B14F-4D97-AF65-F5344CB8AC3E}">
        <p14:creationId xmlns:p14="http://schemas.microsoft.com/office/powerpoint/2010/main" val="3045563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10E9-A0C7-3BA1-386D-76BDB3A4B0C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655C3B4B-CBEF-A587-3A46-53509C3DD07C}"/>
              </a:ext>
            </a:extLst>
          </p:cNvPr>
          <p:cNvGrpSpPr/>
          <p:nvPr/>
        </p:nvGrpSpPr>
        <p:grpSpPr>
          <a:xfrm>
            <a:off x="2712720" y="207511"/>
            <a:ext cx="8534400" cy="1569660"/>
            <a:chOff x="2712720" y="207511"/>
            <a:chExt cx="8534400" cy="1569660"/>
          </a:xfrm>
        </p:grpSpPr>
        <p:sp>
          <p:nvSpPr>
            <p:cNvPr id="7" name="Rectangle 6">
              <a:extLst>
                <a:ext uri="{FF2B5EF4-FFF2-40B4-BE49-F238E27FC236}">
                  <a16:creationId xmlns:a16="http://schemas.microsoft.com/office/drawing/2014/main" id="{77642B19-2CB5-A1D0-01C7-14F7683FA108}"/>
                </a:ext>
              </a:extLst>
            </p:cNvPr>
            <p:cNvSpPr/>
            <p:nvPr/>
          </p:nvSpPr>
          <p:spPr>
            <a:xfrm>
              <a:off x="2712720" y="207512"/>
              <a:ext cx="8534400" cy="1488932"/>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3D2805CC-1C2E-A1D1-32C0-772103165947}"/>
                </a:ext>
              </a:extLst>
            </p:cNvPr>
            <p:cNvSpPr txBox="1"/>
            <p:nvPr/>
          </p:nvSpPr>
          <p:spPr>
            <a:xfrm>
              <a:off x="6634826" y="207511"/>
              <a:ext cx="3413414" cy="1569660"/>
            </a:xfrm>
            <a:prstGeom prst="rect">
              <a:avLst/>
            </a:prstGeom>
            <a:noFill/>
          </p:spPr>
          <p:txBody>
            <a:bodyPr wrap="square" rtlCol="0">
              <a:spAutoFit/>
            </a:bodyPr>
            <a:lstStyle/>
            <a:p>
              <a:r>
                <a:rPr lang="en-IN" sz="3200" b="1" dirty="0">
                  <a:solidFill>
                    <a:schemeClr val="bg1"/>
                  </a:solidFill>
                  <a:latin typeface="Stencil" panose="040409050D0802020404" pitchFamily="82" charset="0"/>
                </a:rPr>
                <a:t>WHAT IS SUPPLY CHAIN MANAGEMENT </a:t>
              </a:r>
              <a:endParaRPr lang="en-IN" sz="3200" b="1" dirty="0">
                <a:latin typeface="Stencil" panose="040409050D0802020404" pitchFamily="82" charset="0"/>
              </a:endParaRPr>
            </a:p>
          </p:txBody>
        </p:sp>
      </p:grpSp>
      <p:pic>
        <p:nvPicPr>
          <p:cNvPr id="6" name="Graphic 5" descr="Help with solid fill">
            <a:extLst>
              <a:ext uri="{FF2B5EF4-FFF2-40B4-BE49-F238E27FC236}">
                <a16:creationId xmlns:a16="http://schemas.microsoft.com/office/drawing/2014/main" id="{8E83B926-2BDC-A663-6EDC-B436682D066E}"/>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80720" y="-325552"/>
            <a:ext cx="2695514" cy="2635787"/>
          </a:xfrm>
          <a:prstGeom prst="rect">
            <a:avLst/>
          </a:prstGeom>
        </p:spPr>
      </p:pic>
      <p:sp>
        <p:nvSpPr>
          <p:cNvPr id="10" name="TextBox 9">
            <a:extLst>
              <a:ext uri="{FF2B5EF4-FFF2-40B4-BE49-F238E27FC236}">
                <a16:creationId xmlns:a16="http://schemas.microsoft.com/office/drawing/2014/main" id="{182DC7E3-0968-261C-EE97-3D4339EF22CC}"/>
              </a:ext>
            </a:extLst>
          </p:cNvPr>
          <p:cNvSpPr txBox="1"/>
          <p:nvPr/>
        </p:nvSpPr>
        <p:spPr>
          <a:xfrm>
            <a:off x="2143760" y="3037840"/>
            <a:ext cx="7904480" cy="2554545"/>
          </a:xfrm>
          <a:prstGeom prst="rect">
            <a:avLst/>
          </a:prstGeom>
          <a:noFill/>
        </p:spPr>
        <p:txBody>
          <a:bodyPr wrap="square" rtlCol="0">
            <a:spAutoFit/>
          </a:bodyPr>
          <a:lstStyle/>
          <a:p>
            <a:pPr algn="ctr"/>
            <a:r>
              <a:rPr lang="en-US" sz="2000" dirty="0">
                <a:latin typeface="Arial Narrow" panose="020B0606020202030204" pitchFamily="34" charset="0"/>
              </a:rPr>
              <a:t>Supply Chain Management (SCM) involves the strategic coordination of goods, information, and financial flows among suppliers, manufacturers, distributors, and customers. Its main objective is to improve efficiency, reduce costs, and ensure timely delivery while enhancing customer satisfaction. In today’s competitive global market, SCM plays a crucial role in driving business growth, operational excellence, and long-term sustainability. Moreover, effective SCM enables businesses to adapt quickly to market changes and disruptions, ensuring resilience and continuous value creation.</a:t>
            </a:r>
            <a:endParaRPr lang="en-IN" sz="2000" dirty="0">
              <a:latin typeface="Arial Narrow" panose="020B0606020202030204" pitchFamily="34" charset="0"/>
            </a:endParaRPr>
          </a:p>
        </p:txBody>
      </p:sp>
    </p:spTree>
    <p:extLst>
      <p:ext uri="{BB962C8B-B14F-4D97-AF65-F5344CB8AC3E}">
        <p14:creationId xmlns:p14="http://schemas.microsoft.com/office/powerpoint/2010/main" val="115242668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2970C445-58EA-FCAB-E574-3979E1A77A83}"/>
              </a:ext>
            </a:extLst>
          </p:cNvPr>
          <p:cNvGrpSpPr/>
          <p:nvPr/>
        </p:nvGrpSpPr>
        <p:grpSpPr>
          <a:xfrm>
            <a:off x="559246" y="1872356"/>
            <a:ext cx="11287760" cy="8649455"/>
            <a:chOff x="599440" y="2018544"/>
            <a:chExt cx="11287760" cy="8649455"/>
          </a:xfrm>
        </p:grpSpPr>
        <p:pic>
          <p:nvPicPr>
            <p:cNvPr id="51" name="Picture 50" descr="A diagram of a company&#10;&#10;AI-generated content may be incorrect.">
              <a:extLst>
                <a:ext uri="{FF2B5EF4-FFF2-40B4-BE49-F238E27FC236}">
                  <a16:creationId xmlns:a16="http://schemas.microsoft.com/office/drawing/2014/main" id="{794AD631-FCDD-3BF2-2EA5-8966D32D6002}"/>
                </a:ext>
              </a:extLst>
            </p:cNvPr>
            <p:cNvPicPr>
              <a:picLocks noChangeAspect="1"/>
            </p:cNvPicPr>
            <p:nvPr/>
          </p:nvPicPr>
          <p:blipFill>
            <a:blip r:embed="rId2">
              <a:extLst>
                <a:ext uri="{28A0092B-C50C-407E-A947-70E740481C1C}">
                  <a14:useLocalDpi xmlns:a14="http://schemas.microsoft.com/office/drawing/2010/main" val="0"/>
                </a:ext>
              </a:extLst>
            </a:blip>
            <a:srcRect l="82550" r="2505" b="5963"/>
            <a:stretch>
              <a:fillRect/>
            </a:stretch>
          </p:blipFill>
          <p:spPr>
            <a:xfrm>
              <a:off x="10068560" y="2018544"/>
              <a:ext cx="1818640" cy="5745350"/>
            </a:xfrm>
            <a:custGeom>
              <a:avLst/>
              <a:gdLst>
                <a:gd name="connsiteX0" fmla="*/ 909320 w 1818640"/>
                <a:gd name="connsiteY0" fmla="*/ 0 h 5648960"/>
                <a:gd name="connsiteX1" fmla="*/ 1818640 w 1818640"/>
                <a:gd name="connsiteY1" fmla="*/ 909320 h 5648960"/>
                <a:gd name="connsiteX2" fmla="*/ 1818640 w 1818640"/>
                <a:gd name="connsiteY2" fmla="*/ 4739640 h 5648960"/>
                <a:gd name="connsiteX3" fmla="*/ 909320 w 1818640"/>
                <a:gd name="connsiteY3" fmla="*/ 5648960 h 5648960"/>
                <a:gd name="connsiteX4" fmla="*/ 0 w 1818640"/>
                <a:gd name="connsiteY4" fmla="*/ 4739640 h 5648960"/>
                <a:gd name="connsiteX5" fmla="*/ 0 w 1818640"/>
                <a:gd name="connsiteY5" fmla="*/ 909320 h 5648960"/>
                <a:gd name="connsiteX6" fmla="*/ 909320 w 1818640"/>
                <a:gd name="connsiteY6" fmla="*/ 0 h 564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8640" h="5648960">
                  <a:moveTo>
                    <a:pt x="909320" y="0"/>
                  </a:moveTo>
                  <a:cubicBezTo>
                    <a:pt x="1411524" y="0"/>
                    <a:pt x="1818640" y="407116"/>
                    <a:pt x="1818640" y="909320"/>
                  </a:cubicBezTo>
                  <a:lnTo>
                    <a:pt x="1818640" y="4739640"/>
                  </a:lnTo>
                  <a:cubicBezTo>
                    <a:pt x="1818640" y="5241844"/>
                    <a:pt x="1411524" y="5648960"/>
                    <a:pt x="909320" y="5648960"/>
                  </a:cubicBezTo>
                  <a:cubicBezTo>
                    <a:pt x="407116" y="5648960"/>
                    <a:pt x="0" y="5241844"/>
                    <a:pt x="0" y="4739640"/>
                  </a:cubicBezTo>
                  <a:lnTo>
                    <a:pt x="0" y="909320"/>
                  </a:lnTo>
                  <a:cubicBezTo>
                    <a:pt x="0" y="407116"/>
                    <a:pt x="407116" y="0"/>
                    <a:pt x="909320" y="0"/>
                  </a:cubicBezTo>
                  <a:close/>
                </a:path>
              </a:pathLst>
            </a:custGeom>
          </p:spPr>
        </p:pic>
        <p:pic>
          <p:nvPicPr>
            <p:cNvPr id="50" name="Picture 49" descr="A diagram of a company&#10;&#10;AI-generated content may be incorrect.">
              <a:extLst>
                <a:ext uri="{FF2B5EF4-FFF2-40B4-BE49-F238E27FC236}">
                  <a16:creationId xmlns:a16="http://schemas.microsoft.com/office/drawing/2014/main" id="{D10417A2-295E-CA80-75E1-E5E0942A1D90}"/>
                </a:ext>
              </a:extLst>
            </p:cNvPr>
            <p:cNvPicPr>
              <a:picLocks noChangeAspect="1"/>
            </p:cNvPicPr>
            <p:nvPr/>
          </p:nvPicPr>
          <p:blipFill>
            <a:blip r:embed="rId2">
              <a:extLst>
                <a:ext uri="{28A0092B-C50C-407E-A947-70E740481C1C}">
                  <a14:useLocalDpi xmlns:a14="http://schemas.microsoft.com/office/drawing/2010/main" val="0"/>
                </a:ext>
              </a:extLst>
            </a:blip>
            <a:srcRect l="67020" t="7000" r="18035"/>
            <a:stretch>
              <a:fillRect/>
            </a:stretch>
          </p:blipFill>
          <p:spPr>
            <a:xfrm>
              <a:off x="8168640" y="2487233"/>
              <a:ext cx="1818640" cy="5586688"/>
            </a:xfrm>
            <a:custGeom>
              <a:avLst/>
              <a:gdLst>
                <a:gd name="connsiteX0" fmla="*/ 909320 w 1818640"/>
                <a:gd name="connsiteY0" fmla="*/ 0 h 5586688"/>
                <a:gd name="connsiteX1" fmla="*/ 1818640 w 1818640"/>
                <a:gd name="connsiteY1" fmla="*/ 909320 h 5586688"/>
                <a:gd name="connsiteX2" fmla="*/ 1818640 w 1818640"/>
                <a:gd name="connsiteY2" fmla="*/ 5586688 h 5586688"/>
                <a:gd name="connsiteX3" fmla="*/ 0 w 1818640"/>
                <a:gd name="connsiteY3" fmla="*/ 5586688 h 5586688"/>
                <a:gd name="connsiteX4" fmla="*/ 0 w 1818640"/>
                <a:gd name="connsiteY4" fmla="*/ 909320 h 5586688"/>
                <a:gd name="connsiteX5" fmla="*/ 909320 w 1818640"/>
                <a:gd name="connsiteY5" fmla="*/ 0 h 5586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5586688">
                  <a:moveTo>
                    <a:pt x="909320" y="0"/>
                  </a:moveTo>
                  <a:cubicBezTo>
                    <a:pt x="1411524" y="0"/>
                    <a:pt x="1818640" y="407116"/>
                    <a:pt x="1818640" y="909320"/>
                  </a:cubicBezTo>
                  <a:lnTo>
                    <a:pt x="1818640" y="5586688"/>
                  </a:lnTo>
                  <a:lnTo>
                    <a:pt x="0" y="5586688"/>
                  </a:lnTo>
                  <a:lnTo>
                    <a:pt x="0" y="909320"/>
                  </a:lnTo>
                  <a:cubicBezTo>
                    <a:pt x="0" y="407116"/>
                    <a:pt x="407116" y="0"/>
                    <a:pt x="909320" y="0"/>
                  </a:cubicBezTo>
                  <a:close/>
                </a:path>
              </a:pathLst>
            </a:custGeom>
          </p:spPr>
        </p:pic>
        <p:pic>
          <p:nvPicPr>
            <p:cNvPr id="49" name="Picture 48" descr="A diagram of a company&#10;&#10;AI-generated content may be incorrect.">
              <a:extLst>
                <a:ext uri="{FF2B5EF4-FFF2-40B4-BE49-F238E27FC236}">
                  <a16:creationId xmlns:a16="http://schemas.microsoft.com/office/drawing/2014/main" id="{5554097F-B894-3A62-10D3-7AB0B36D972D}"/>
                </a:ext>
              </a:extLst>
            </p:cNvPr>
            <p:cNvPicPr>
              <a:picLocks noChangeAspect="1"/>
            </p:cNvPicPr>
            <p:nvPr/>
          </p:nvPicPr>
          <p:blipFill>
            <a:blip r:embed="rId2">
              <a:extLst>
                <a:ext uri="{28A0092B-C50C-407E-A947-70E740481C1C}">
                  <a14:useLocalDpi xmlns:a14="http://schemas.microsoft.com/office/drawing/2010/main" val="0"/>
                </a:ext>
              </a:extLst>
            </a:blip>
            <a:srcRect l="51489" t="16699" r="33565"/>
            <a:stretch>
              <a:fillRect/>
            </a:stretch>
          </p:blipFill>
          <p:spPr>
            <a:xfrm>
              <a:off x="6289040" y="3069875"/>
              <a:ext cx="1818640" cy="5004046"/>
            </a:xfrm>
            <a:custGeom>
              <a:avLst/>
              <a:gdLst>
                <a:gd name="connsiteX0" fmla="*/ 909320 w 1818640"/>
                <a:gd name="connsiteY0" fmla="*/ 0 h 5004046"/>
                <a:gd name="connsiteX1" fmla="*/ 1818640 w 1818640"/>
                <a:gd name="connsiteY1" fmla="*/ 909320 h 5004046"/>
                <a:gd name="connsiteX2" fmla="*/ 1818640 w 1818640"/>
                <a:gd name="connsiteY2" fmla="*/ 5004046 h 5004046"/>
                <a:gd name="connsiteX3" fmla="*/ 0 w 1818640"/>
                <a:gd name="connsiteY3" fmla="*/ 5004046 h 5004046"/>
                <a:gd name="connsiteX4" fmla="*/ 0 w 1818640"/>
                <a:gd name="connsiteY4" fmla="*/ 909320 h 5004046"/>
                <a:gd name="connsiteX5" fmla="*/ 909320 w 1818640"/>
                <a:gd name="connsiteY5" fmla="*/ 0 h 500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5004046">
                  <a:moveTo>
                    <a:pt x="909320" y="0"/>
                  </a:moveTo>
                  <a:cubicBezTo>
                    <a:pt x="1411524" y="0"/>
                    <a:pt x="1818640" y="407116"/>
                    <a:pt x="1818640" y="909320"/>
                  </a:cubicBezTo>
                  <a:lnTo>
                    <a:pt x="1818640" y="5004046"/>
                  </a:lnTo>
                  <a:lnTo>
                    <a:pt x="0" y="5004046"/>
                  </a:lnTo>
                  <a:lnTo>
                    <a:pt x="0" y="909320"/>
                  </a:lnTo>
                  <a:cubicBezTo>
                    <a:pt x="0" y="407116"/>
                    <a:pt x="407116" y="0"/>
                    <a:pt x="909320" y="0"/>
                  </a:cubicBezTo>
                  <a:close/>
                </a:path>
              </a:pathLst>
            </a:custGeom>
          </p:spPr>
        </p:pic>
        <p:pic>
          <p:nvPicPr>
            <p:cNvPr id="48" name="Picture 47" descr="A diagram of a company&#10;&#10;AI-generated content may be incorrect.">
              <a:extLst>
                <a:ext uri="{FF2B5EF4-FFF2-40B4-BE49-F238E27FC236}">
                  <a16:creationId xmlns:a16="http://schemas.microsoft.com/office/drawing/2014/main" id="{9541DA9D-5818-8FF5-CAA9-FF442E85F97A}"/>
                </a:ext>
              </a:extLst>
            </p:cNvPr>
            <p:cNvPicPr>
              <a:picLocks noChangeAspect="1"/>
            </p:cNvPicPr>
            <p:nvPr/>
          </p:nvPicPr>
          <p:blipFill>
            <a:blip r:embed="rId2">
              <a:extLst>
                <a:ext uri="{28A0092B-C50C-407E-A947-70E740481C1C}">
                  <a14:useLocalDpi xmlns:a14="http://schemas.microsoft.com/office/drawing/2010/main" val="0"/>
                </a:ext>
              </a:extLst>
            </a:blip>
            <a:srcRect l="35959" t="23823" r="49095"/>
            <a:stretch>
              <a:fillRect/>
            </a:stretch>
          </p:blipFill>
          <p:spPr>
            <a:xfrm>
              <a:off x="4399280" y="3477015"/>
              <a:ext cx="1818640" cy="4576096"/>
            </a:xfrm>
            <a:custGeom>
              <a:avLst/>
              <a:gdLst>
                <a:gd name="connsiteX0" fmla="*/ 909320 w 1818640"/>
                <a:gd name="connsiteY0" fmla="*/ 0 h 4576096"/>
                <a:gd name="connsiteX1" fmla="*/ 1818640 w 1818640"/>
                <a:gd name="connsiteY1" fmla="*/ 909320 h 4576096"/>
                <a:gd name="connsiteX2" fmla="*/ 1818640 w 1818640"/>
                <a:gd name="connsiteY2" fmla="*/ 4576096 h 4576096"/>
                <a:gd name="connsiteX3" fmla="*/ 0 w 1818640"/>
                <a:gd name="connsiteY3" fmla="*/ 4576096 h 4576096"/>
                <a:gd name="connsiteX4" fmla="*/ 0 w 1818640"/>
                <a:gd name="connsiteY4" fmla="*/ 909320 h 4576096"/>
                <a:gd name="connsiteX5" fmla="*/ 909320 w 1818640"/>
                <a:gd name="connsiteY5" fmla="*/ 0 h 457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4576096">
                  <a:moveTo>
                    <a:pt x="909320" y="0"/>
                  </a:moveTo>
                  <a:cubicBezTo>
                    <a:pt x="1411524" y="0"/>
                    <a:pt x="1818640" y="407116"/>
                    <a:pt x="1818640" y="909320"/>
                  </a:cubicBezTo>
                  <a:lnTo>
                    <a:pt x="1818640" y="4576096"/>
                  </a:lnTo>
                  <a:lnTo>
                    <a:pt x="0" y="4576096"/>
                  </a:lnTo>
                  <a:lnTo>
                    <a:pt x="0" y="909320"/>
                  </a:lnTo>
                  <a:cubicBezTo>
                    <a:pt x="0" y="407116"/>
                    <a:pt x="407116" y="0"/>
                    <a:pt x="909320" y="0"/>
                  </a:cubicBezTo>
                  <a:close/>
                </a:path>
              </a:pathLst>
            </a:custGeom>
          </p:spPr>
        </p:pic>
        <p:pic>
          <p:nvPicPr>
            <p:cNvPr id="47" name="Picture 46" descr="A diagram of a company&#10;&#10;AI-generated content may be incorrect.">
              <a:extLst>
                <a:ext uri="{FF2B5EF4-FFF2-40B4-BE49-F238E27FC236}">
                  <a16:creationId xmlns:a16="http://schemas.microsoft.com/office/drawing/2014/main" id="{8CD851E0-8704-8776-4787-9C398446921C}"/>
                </a:ext>
              </a:extLst>
            </p:cNvPr>
            <p:cNvPicPr>
              <a:picLocks noChangeAspect="1"/>
            </p:cNvPicPr>
            <p:nvPr/>
          </p:nvPicPr>
          <p:blipFill>
            <a:blip r:embed="rId2">
              <a:extLst>
                <a:ext uri="{28A0092B-C50C-407E-A947-70E740481C1C}">
                  <a14:useLocalDpi xmlns:a14="http://schemas.microsoft.com/office/drawing/2010/main" val="0"/>
                </a:ext>
              </a:extLst>
            </a:blip>
            <a:srcRect l="20346" t="36445" r="64709"/>
            <a:stretch>
              <a:fillRect/>
            </a:stretch>
          </p:blipFill>
          <p:spPr>
            <a:xfrm>
              <a:off x="2509520" y="4235244"/>
              <a:ext cx="1818640" cy="3817867"/>
            </a:xfrm>
            <a:custGeom>
              <a:avLst/>
              <a:gdLst>
                <a:gd name="connsiteX0" fmla="*/ 909320 w 1818640"/>
                <a:gd name="connsiteY0" fmla="*/ 0 h 3817867"/>
                <a:gd name="connsiteX1" fmla="*/ 1818640 w 1818640"/>
                <a:gd name="connsiteY1" fmla="*/ 909320 h 3817867"/>
                <a:gd name="connsiteX2" fmla="*/ 1818640 w 1818640"/>
                <a:gd name="connsiteY2" fmla="*/ 3817867 h 3817867"/>
                <a:gd name="connsiteX3" fmla="*/ 0 w 1818640"/>
                <a:gd name="connsiteY3" fmla="*/ 3817867 h 3817867"/>
                <a:gd name="connsiteX4" fmla="*/ 0 w 1818640"/>
                <a:gd name="connsiteY4" fmla="*/ 909320 h 3817867"/>
                <a:gd name="connsiteX5" fmla="*/ 909320 w 1818640"/>
                <a:gd name="connsiteY5" fmla="*/ 0 h 3817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3817867">
                  <a:moveTo>
                    <a:pt x="909320" y="0"/>
                  </a:moveTo>
                  <a:cubicBezTo>
                    <a:pt x="1411524" y="0"/>
                    <a:pt x="1818640" y="407116"/>
                    <a:pt x="1818640" y="909320"/>
                  </a:cubicBezTo>
                  <a:lnTo>
                    <a:pt x="1818640" y="3817867"/>
                  </a:lnTo>
                  <a:lnTo>
                    <a:pt x="0" y="3817867"/>
                  </a:lnTo>
                  <a:lnTo>
                    <a:pt x="0" y="909320"/>
                  </a:lnTo>
                  <a:cubicBezTo>
                    <a:pt x="0" y="407116"/>
                    <a:pt x="407116" y="0"/>
                    <a:pt x="909320" y="0"/>
                  </a:cubicBezTo>
                  <a:close/>
                </a:path>
              </a:pathLst>
            </a:custGeom>
          </p:spPr>
        </p:pic>
        <p:pic>
          <p:nvPicPr>
            <p:cNvPr id="46" name="Picture 45" descr="A diagram of a company&#10;&#10;AI-generated content may be incorrect.">
              <a:extLst>
                <a:ext uri="{FF2B5EF4-FFF2-40B4-BE49-F238E27FC236}">
                  <a16:creationId xmlns:a16="http://schemas.microsoft.com/office/drawing/2014/main" id="{A01810BF-69E5-A1C4-DED8-01DEB6936A8D}"/>
                </a:ext>
              </a:extLst>
            </p:cNvPr>
            <p:cNvPicPr>
              <a:picLocks noChangeAspect="1"/>
            </p:cNvPicPr>
            <p:nvPr/>
          </p:nvPicPr>
          <p:blipFill>
            <a:blip r:embed="rId2">
              <a:extLst>
                <a:ext uri="{28A0092B-C50C-407E-A947-70E740481C1C}">
                  <a14:useLocalDpi xmlns:a14="http://schemas.microsoft.com/office/drawing/2010/main" val="0"/>
                </a:ext>
              </a:extLst>
            </a:blip>
            <a:srcRect l="4732" t="47018" r="80322"/>
            <a:stretch>
              <a:fillRect/>
            </a:stretch>
          </p:blipFill>
          <p:spPr>
            <a:xfrm>
              <a:off x="599440" y="4891219"/>
              <a:ext cx="1818640" cy="3182702"/>
            </a:xfrm>
            <a:custGeom>
              <a:avLst/>
              <a:gdLst>
                <a:gd name="connsiteX0" fmla="*/ 909320 w 1818640"/>
                <a:gd name="connsiteY0" fmla="*/ 0 h 3182702"/>
                <a:gd name="connsiteX1" fmla="*/ 1818640 w 1818640"/>
                <a:gd name="connsiteY1" fmla="*/ 909320 h 3182702"/>
                <a:gd name="connsiteX2" fmla="*/ 1818640 w 1818640"/>
                <a:gd name="connsiteY2" fmla="*/ 3182702 h 3182702"/>
                <a:gd name="connsiteX3" fmla="*/ 0 w 1818640"/>
                <a:gd name="connsiteY3" fmla="*/ 3182702 h 3182702"/>
                <a:gd name="connsiteX4" fmla="*/ 0 w 1818640"/>
                <a:gd name="connsiteY4" fmla="*/ 909320 h 3182702"/>
                <a:gd name="connsiteX5" fmla="*/ 909320 w 1818640"/>
                <a:gd name="connsiteY5" fmla="*/ 0 h 318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3182702">
                  <a:moveTo>
                    <a:pt x="909320" y="0"/>
                  </a:moveTo>
                  <a:cubicBezTo>
                    <a:pt x="1411524" y="0"/>
                    <a:pt x="1818640" y="407116"/>
                    <a:pt x="1818640" y="909320"/>
                  </a:cubicBezTo>
                  <a:lnTo>
                    <a:pt x="1818640" y="3182702"/>
                  </a:lnTo>
                  <a:lnTo>
                    <a:pt x="0" y="3182702"/>
                  </a:lnTo>
                  <a:lnTo>
                    <a:pt x="0" y="909320"/>
                  </a:lnTo>
                  <a:cubicBezTo>
                    <a:pt x="0" y="407116"/>
                    <a:pt x="407116" y="0"/>
                    <a:pt x="909320" y="0"/>
                  </a:cubicBezTo>
                  <a:close/>
                </a:path>
              </a:pathLst>
            </a:custGeom>
          </p:spPr>
        </p:pic>
        <p:pic>
          <p:nvPicPr>
            <p:cNvPr id="44" name="Picture 43" descr="A diagram of a company&#10;&#10;AI-generated content may be incorrect.">
              <a:extLst>
                <a:ext uri="{FF2B5EF4-FFF2-40B4-BE49-F238E27FC236}">
                  <a16:creationId xmlns:a16="http://schemas.microsoft.com/office/drawing/2014/main" id="{19D1768E-7B60-7764-8D15-6D266028DA72}"/>
                </a:ext>
              </a:extLst>
            </p:cNvPr>
            <p:cNvPicPr>
              <a:picLocks noChangeAspect="1"/>
            </p:cNvPicPr>
            <p:nvPr/>
          </p:nvPicPr>
          <p:blipFill>
            <a:blip r:embed="rId2">
              <a:extLst>
                <a:ext uri="{28A0092B-C50C-407E-A947-70E740481C1C}">
                  <a14:useLocalDpi xmlns:a14="http://schemas.microsoft.com/office/drawing/2010/main" val="0"/>
                </a:ext>
              </a:extLst>
            </a:blip>
            <a:srcRect l="4732" t="100000" r="80322" b="-41055"/>
            <a:stretch>
              <a:fillRect/>
            </a:stretch>
          </p:blipFill>
          <p:spPr>
            <a:xfrm>
              <a:off x="599440" y="8201741"/>
              <a:ext cx="1818640" cy="2466258"/>
            </a:xfrm>
            <a:custGeom>
              <a:avLst/>
              <a:gdLst>
                <a:gd name="connsiteX0" fmla="*/ 0 w 1818640"/>
                <a:gd name="connsiteY0" fmla="*/ 0 h 2466258"/>
                <a:gd name="connsiteX1" fmla="*/ 1818640 w 1818640"/>
                <a:gd name="connsiteY1" fmla="*/ 0 h 2466258"/>
                <a:gd name="connsiteX2" fmla="*/ 1818640 w 1818640"/>
                <a:gd name="connsiteY2" fmla="*/ 1556938 h 2466258"/>
                <a:gd name="connsiteX3" fmla="*/ 909320 w 1818640"/>
                <a:gd name="connsiteY3" fmla="*/ 2466258 h 2466258"/>
                <a:gd name="connsiteX4" fmla="*/ 0 w 1818640"/>
                <a:gd name="connsiteY4" fmla="*/ 1556938 h 2466258"/>
                <a:gd name="connsiteX5" fmla="*/ 0 w 1818640"/>
                <a:gd name="connsiteY5" fmla="*/ 0 h 2466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2466258">
                  <a:moveTo>
                    <a:pt x="0" y="0"/>
                  </a:moveTo>
                  <a:lnTo>
                    <a:pt x="1818640" y="0"/>
                  </a:lnTo>
                  <a:lnTo>
                    <a:pt x="1818640" y="1556938"/>
                  </a:lnTo>
                  <a:cubicBezTo>
                    <a:pt x="1818640" y="2059142"/>
                    <a:pt x="1411524" y="2466258"/>
                    <a:pt x="909320" y="2466258"/>
                  </a:cubicBezTo>
                  <a:cubicBezTo>
                    <a:pt x="407116" y="2466258"/>
                    <a:pt x="0" y="2059142"/>
                    <a:pt x="0" y="1556938"/>
                  </a:cubicBezTo>
                  <a:lnTo>
                    <a:pt x="0" y="0"/>
                  </a:lnTo>
                  <a:close/>
                </a:path>
              </a:pathLst>
            </a:custGeom>
          </p:spPr>
        </p:pic>
        <p:pic>
          <p:nvPicPr>
            <p:cNvPr id="43" name="Picture 42" descr="A diagram of a company&#10;&#10;AI-generated content may be incorrect.">
              <a:extLst>
                <a:ext uri="{FF2B5EF4-FFF2-40B4-BE49-F238E27FC236}">
                  <a16:creationId xmlns:a16="http://schemas.microsoft.com/office/drawing/2014/main" id="{9C5EE9BF-61F0-6397-1F98-ECBB8887F261}"/>
                </a:ext>
              </a:extLst>
            </p:cNvPr>
            <p:cNvPicPr>
              <a:picLocks noChangeAspect="1"/>
            </p:cNvPicPr>
            <p:nvPr/>
          </p:nvPicPr>
          <p:blipFill>
            <a:blip r:embed="rId2">
              <a:extLst>
                <a:ext uri="{28A0092B-C50C-407E-A947-70E740481C1C}">
                  <a14:useLocalDpi xmlns:a14="http://schemas.microsoft.com/office/drawing/2010/main" val="0"/>
                </a:ext>
              </a:extLst>
            </a:blip>
            <a:srcRect l="20346" t="100000" r="64709" b="-30482"/>
            <a:stretch>
              <a:fillRect/>
            </a:stretch>
          </p:blipFill>
          <p:spPr>
            <a:xfrm>
              <a:off x="2499360" y="8201742"/>
              <a:ext cx="1818640" cy="1831093"/>
            </a:xfrm>
            <a:custGeom>
              <a:avLst/>
              <a:gdLst>
                <a:gd name="connsiteX0" fmla="*/ 0 w 1818640"/>
                <a:gd name="connsiteY0" fmla="*/ 0 h 1831093"/>
                <a:gd name="connsiteX1" fmla="*/ 1818640 w 1818640"/>
                <a:gd name="connsiteY1" fmla="*/ 0 h 1831093"/>
                <a:gd name="connsiteX2" fmla="*/ 1818640 w 1818640"/>
                <a:gd name="connsiteY2" fmla="*/ 921773 h 1831093"/>
                <a:gd name="connsiteX3" fmla="*/ 909320 w 1818640"/>
                <a:gd name="connsiteY3" fmla="*/ 1831093 h 1831093"/>
                <a:gd name="connsiteX4" fmla="*/ 0 w 1818640"/>
                <a:gd name="connsiteY4" fmla="*/ 921773 h 1831093"/>
                <a:gd name="connsiteX5" fmla="*/ 0 w 1818640"/>
                <a:gd name="connsiteY5" fmla="*/ 0 h 18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1831093">
                  <a:moveTo>
                    <a:pt x="0" y="0"/>
                  </a:moveTo>
                  <a:lnTo>
                    <a:pt x="1818640" y="0"/>
                  </a:lnTo>
                  <a:lnTo>
                    <a:pt x="1818640" y="921773"/>
                  </a:lnTo>
                  <a:cubicBezTo>
                    <a:pt x="1818640" y="1423977"/>
                    <a:pt x="1411524" y="1831093"/>
                    <a:pt x="909320" y="1831093"/>
                  </a:cubicBezTo>
                  <a:cubicBezTo>
                    <a:pt x="407116" y="1831093"/>
                    <a:pt x="0" y="1423977"/>
                    <a:pt x="0" y="921773"/>
                  </a:cubicBezTo>
                  <a:lnTo>
                    <a:pt x="0" y="0"/>
                  </a:lnTo>
                  <a:close/>
                </a:path>
              </a:pathLst>
            </a:custGeom>
          </p:spPr>
        </p:pic>
        <p:pic>
          <p:nvPicPr>
            <p:cNvPr id="42" name="Picture 41" descr="A diagram of a company&#10;&#10;AI-generated content may be incorrect.">
              <a:extLst>
                <a:ext uri="{FF2B5EF4-FFF2-40B4-BE49-F238E27FC236}">
                  <a16:creationId xmlns:a16="http://schemas.microsoft.com/office/drawing/2014/main" id="{2F237FBC-8840-2A22-F732-49143D014CF4}"/>
                </a:ext>
              </a:extLst>
            </p:cNvPr>
            <p:cNvPicPr>
              <a:picLocks noChangeAspect="1"/>
            </p:cNvPicPr>
            <p:nvPr/>
          </p:nvPicPr>
          <p:blipFill>
            <a:blip r:embed="rId2">
              <a:extLst>
                <a:ext uri="{28A0092B-C50C-407E-A947-70E740481C1C}">
                  <a14:useLocalDpi xmlns:a14="http://schemas.microsoft.com/office/drawing/2010/main" val="0"/>
                </a:ext>
              </a:extLst>
            </a:blip>
            <a:srcRect l="35959" t="100000" r="49095" b="-17860"/>
            <a:stretch>
              <a:fillRect/>
            </a:stretch>
          </p:blipFill>
          <p:spPr>
            <a:xfrm>
              <a:off x="4399280" y="8201741"/>
              <a:ext cx="1818640" cy="1072864"/>
            </a:xfrm>
            <a:custGeom>
              <a:avLst/>
              <a:gdLst>
                <a:gd name="connsiteX0" fmla="*/ 0 w 1818640"/>
                <a:gd name="connsiteY0" fmla="*/ 0 h 1072864"/>
                <a:gd name="connsiteX1" fmla="*/ 1818640 w 1818640"/>
                <a:gd name="connsiteY1" fmla="*/ 0 h 1072864"/>
                <a:gd name="connsiteX2" fmla="*/ 1818640 w 1818640"/>
                <a:gd name="connsiteY2" fmla="*/ 163544 h 1072864"/>
                <a:gd name="connsiteX3" fmla="*/ 909320 w 1818640"/>
                <a:gd name="connsiteY3" fmla="*/ 1072864 h 1072864"/>
                <a:gd name="connsiteX4" fmla="*/ 0 w 1818640"/>
                <a:gd name="connsiteY4" fmla="*/ 163544 h 1072864"/>
                <a:gd name="connsiteX5" fmla="*/ 0 w 1818640"/>
                <a:gd name="connsiteY5" fmla="*/ 0 h 1072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1072864">
                  <a:moveTo>
                    <a:pt x="0" y="0"/>
                  </a:moveTo>
                  <a:lnTo>
                    <a:pt x="1818640" y="0"/>
                  </a:lnTo>
                  <a:lnTo>
                    <a:pt x="1818640" y="163544"/>
                  </a:lnTo>
                  <a:cubicBezTo>
                    <a:pt x="1818640" y="665748"/>
                    <a:pt x="1411524" y="1072864"/>
                    <a:pt x="909320" y="1072864"/>
                  </a:cubicBezTo>
                  <a:cubicBezTo>
                    <a:pt x="407116" y="1072864"/>
                    <a:pt x="0" y="665748"/>
                    <a:pt x="0" y="163544"/>
                  </a:cubicBezTo>
                  <a:lnTo>
                    <a:pt x="0" y="0"/>
                  </a:lnTo>
                  <a:close/>
                </a:path>
              </a:pathLst>
            </a:custGeom>
          </p:spPr>
        </p:pic>
        <p:pic>
          <p:nvPicPr>
            <p:cNvPr id="41" name="Picture 40" descr="A diagram of a company&#10;&#10;AI-generated content may be incorrect.">
              <a:extLst>
                <a:ext uri="{FF2B5EF4-FFF2-40B4-BE49-F238E27FC236}">
                  <a16:creationId xmlns:a16="http://schemas.microsoft.com/office/drawing/2014/main" id="{7AD417C8-EBDC-3A6A-610E-04B765B691C0}"/>
                </a:ext>
              </a:extLst>
            </p:cNvPr>
            <p:cNvPicPr>
              <a:picLocks noChangeAspect="1"/>
            </p:cNvPicPr>
            <p:nvPr/>
          </p:nvPicPr>
          <p:blipFill>
            <a:blip r:embed="rId2">
              <a:extLst>
                <a:ext uri="{28A0092B-C50C-407E-A947-70E740481C1C}">
                  <a14:useLocalDpi xmlns:a14="http://schemas.microsoft.com/office/drawing/2010/main" val="0"/>
                </a:ext>
              </a:extLst>
            </a:blip>
            <a:srcRect l="51489" t="100000" r="33565" b="-24984"/>
            <a:stretch>
              <a:fillRect/>
            </a:stretch>
          </p:blipFill>
          <p:spPr>
            <a:xfrm>
              <a:off x="6289040" y="8201742"/>
              <a:ext cx="1818640" cy="1500813"/>
            </a:xfrm>
            <a:custGeom>
              <a:avLst/>
              <a:gdLst>
                <a:gd name="connsiteX0" fmla="*/ 0 w 1818640"/>
                <a:gd name="connsiteY0" fmla="*/ 0 h 1500813"/>
                <a:gd name="connsiteX1" fmla="*/ 1818640 w 1818640"/>
                <a:gd name="connsiteY1" fmla="*/ 0 h 1500813"/>
                <a:gd name="connsiteX2" fmla="*/ 1818640 w 1818640"/>
                <a:gd name="connsiteY2" fmla="*/ 591493 h 1500813"/>
                <a:gd name="connsiteX3" fmla="*/ 909320 w 1818640"/>
                <a:gd name="connsiteY3" fmla="*/ 1500813 h 1500813"/>
                <a:gd name="connsiteX4" fmla="*/ 0 w 1818640"/>
                <a:gd name="connsiteY4" fmla="*/ 591493 h 1500813"/>
                <a:gd name="connsiteX5" fmla="*/ 0 w 1818640"/>
                <a:gd name="connsiteY5" fmla="*/ 0 h 1500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1500813">
                  <a:moveTo>
                    <a:pt x="0" y="0"/>
                  </a:moveTo>
                  <a:lnTo>
                    <a:pt x="1818640" y="0"/>
                  </a:lnTo>
                  <a:lnTo>
                    <a:pt x="1818640" y="591493"/>
                  </a:lnTo>
                  <a:cubicBezTo>
                    <a:pt x="1818640" y="1093697"/>
                    <a:pt x="1411524" y="1500813"/>
                    <a:pt x="909320" y="1500813"/>
                  </a:cubicBezTo>
                  <a:cubicBezTo>
                    <a:pt x="407116" y="1500813"/>
                    <a:pt x="0" y="1093697"/>
                    <a:pt x="0" y="591493"/>
                  </a:cubicBezTo>
                  <a:lnTo>
                    <a:pt x="0" y="0"/>
                  </a:lnTo>
                  <a:close/>
                </a:path>
              </a:pathLst>
            </a:custGeom>
          </p:spPr>
        </p:pic>
        <p:pic>
          <p:nvPicPr>
            <p:cNvPr id="40" name="Picture 39" descr="A diagram of a company&#10;&#10;AI-generated content may be incorrect.">
              <a:extLst>
                <a:ext uri="{FF2B5EF4-FFF2-40B4-BE49-F238E27FC236}">
                  <a16:creationId xmlns:a16="http://schemas.microsoft.com/office/drawing/2014/main" id="{D8EC4BCA-FD35-35F5-8F28-17F0BE6C23C7}"/>
                </a:ext>
              </a:extLst>
            </p:cNvPr>
            <p:cNvPicPr>
              <a:picLocks noChangeAspect="1"/>
            </p:cNvPicPr>
            <p:nvPr/>
          </p:nvPicPr>
          <p:blipFill>
            <a:blip r:embed="rId2">
              <a:extLst>
                <a:ext uri="{28A0092B-C50C-407E-A947-70E740481C1C}">
                  <a14:useLocalDpi xmlns:a14="http://schemas.microsoft.com/office/drawing/2010/main" val="0"/>
                </a:ext>
              </a:extLst>
            </a:blip>
            <a:srcRect l="67020" t="100000" r="18035" b="-32053"/>
            <a:stretch>
              <a:fillRect/>
            </a:stretch>
          </p:blipFill>
          <p:spPr>
            <a:xfrm>
              <a:off x="8178800" y="8201741"/>
              <a:ext cx="1818640" cy="1925486"/>
            </a:xfrm>
            <a:custGeom>
              <a:avLst/>
              <a:gdLst>
                <a:gd name="connsiteX0" fmla="*/ 0 w 1818640"/>
                <a:gd name="connsiteY0" fmla="*/ 0 h 1925486"/>
                <a:gd name="connsiteX1" fmla="*/ 1818640 w 1818640"/>
                <a:gd name="connsiteY1" fmla="*/ 0 h 1925486"/>
                <a:gd name="connsiteX2" fmla="*/ 1818640 w 1818640"/>
                <a:gd name="connsiteY2" fmla="*/ 1016166 h 1925486"/>
                <a:gd name="connsiteX3" fmla="*/ 909320 w 1818640"/>
                <a:gd name="connsiteY3" fmla="*/ 1925486 h 1925486"/>
                <a:gd name="connsiteX4" fmla="*/ 0 w 1818640"/>
                <a:gd name="connsiteY4" fmla="*/ 1016166 h 1925486"/>
                <a:gd name="connsiteX5" fmla="*/ 0 w 1818640"/>
                <a:gd name="connsiteY5" fmla="*/ 0 h 19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8640" h="1925486">
                  <a:moveTo>
                    <a:pt x="0" y="0"/>
                  </a:moveTo>
                  <a:lnTo>
                    <a:pt x="1818640" y="0"/>
                  </a:lnTo>
                  <a:lnTo>
                    <a:pt x="1818640" y="1016166"/>
                  </a:lnTo>
                  <a:cubicBezTo>
                    <a:pt x="1818640" y="1518370"/>
                    <a:pt x="1411524" y="1925486"/>
                    <a:pt x="909320" y="1925486"/>
                  </a:cubicBezTo>
                  <a:cubicBezTo>
                    <a:pt x="407116" y="1925486"/>
                    <a:pt x="0" y="1518370"/>
                    <a:pt x="0" y="1016166"/>
                  </a:cubicBezTo>
                  <a:lnTo>
                    <a:pt x="0" y="0"/>
                  </a:lnTo>
                  <a:close/>
                </a:path>
              </a:pathLst>
            </a:custGeom>
          </p:spPr>
        </p:pic>
        <p:sp>
          <p:nvSpPr>
            <p:cNvPr id="52" name="Rectangle: Rounded Corners 51">
              <a:extLst>
                <a:ext uri="{FF2B5EF4-FFF2-40B4-BE49-F238E27FC236}">
                  <a16:creationId xmlns:a16="http://schemas.microsoft.com/office/drawing/2014/main" id="{FE54EAD9-D1F9-3B1E-6B2A-87260A671103}"/>
                </a:ext>
              </a:extLst>
            </p:cNvPr>
            <p:cNvSpPr/>
            <p:nvPr/>
          </p:nvSpPr>
          <p:spPr>
            <a:xfrm rot="5400000">
              <a:off x="4747505" y="3448175"/>
              <a:ext cx="1122190" cy="1179871"/>
            </a:xfrm>
            <a:prstGeom prst="roundRect">
              <a:avLst>
                <a:gd name="adj" fmla="val 5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3" name="Rectangle: Rounded Corners 52">
              <a:extLst>
                <a:ext uri="{FF2B5EF4-FFF2-40B4-BE49-F238E27FC236}">
                  <a16:creationId xmlns:a16="http://schemas.microsoft.com/office/drawing/2014/main" id="{2B748C77-2808-24C3-EE9C-3AFD5C0AD4FB}"/>
                </a:ext>
              </a:extLst>
            </p:cNvPr>
            <p:cNvSpPr/>
            <p:nvPr/>
          </p:nvSpPr>
          <p:spPr>
            <a:xfrm>
              <a:off x="6299200" y="3069875"/>
              <a:ext cx="1798320" cy="1983905"/>
            </a:xfrm>
            <a:prstGeom prst="roundRect">
              <a:avLst>
                <a:gd name="adj" fmla="val 5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4" name="Rectangle: Rounded Corners 53">
              <a:extLst>
                <a:ext uri="{FF2B5EF4-FFF2-40B4-BE49-F238E27FC236}">
                  <a16:creationId xmlns:a16="http://schemas.microsoft.com/office/drawing/2014/main" id="{9A809CB5-C72B-D863-82C2-E1EB648B2232}"/>
                </a:ext>
              </a:extLst>
            </p:cNvPr>
            <p:cNvSpPr/>
            <p:nvPr/>
          </p:nvSpPr>
          <p:spPr>
            <a:xfrm>
              <a:off x="8178800" y="2615053"/>
              <a:ext cx="1808480" cy="2052810"/>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6" name="Rectangle: Rounded Corners 55">
            <a:extLst>
              <a:ext uri="{FF2B5EF4-FFF2-40B4-BE49-F238E27FC236}">
                <a16:creationId xmlns:a16="http://schemas.microsoft.com/office/drawing/2014/main" id="{5F8CB0CF-1662-41CE-4F3A-B8F896FFE454}"/>
              </a:ext>
            </a:extLst>
          </p:cNvPr>
          <p:cNvSpPr/>
          <p:nvPr/>
        </p:nvSpPr>
        <p:spPr>
          <a:xfrm>
            <a:off x="-738240" y="368710"/>
            <a:ext cx="6053818" cy="1396181"/>
          </a:xfrm>
          <a:prstGeom prst="roundRect">
            <a:avLst>
              <a:gd name="adj" fmla="val 50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3600" dirty="0">
                <a:latin typeface="Stencil" panose="040409050D0802020404" pitchFamily="82" charset="0"/>
              </a:rPr>
              <a:t>   SUPPLY CHAIN DIAGRAM</a:t>
            </a:r>
          </a:p>
        </p:txBody>
      </p:sp>
    </p:spTree>
    <p:extLst>
      <p:ext uri="{BB962C8B-B14F-4D97-AF65-F5344CB8AC3E}">
        <p14:creationId xmlns:p14="http://schemas.microsoft.com/office/powerpoint/2010/main" val="1456761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fill="hold"/>
                                        <p:tgtEl>
                                          <p:spTgt spid="55"/>
                                        </p:tgtEl>
                                        <p:attrNameLst>
                                          <p:attrName>ppt_x</p:attrName>
                                        </p:attrNameLst>
                                      </p:cBhvr>
                                      <p:tavLst>
                                        <p:tav tm="0">
                                          <p:val>
                                            <p:strVal val="#ppt_x"/>
                                          </p:val>
                                        </p:tav>
                                        <p:tav tm="100000">
                                          <p:val>
                                            <p:strVal val="#ppt_x"/>
                                          </p:val>
                                        </p:tav>
                                      </p:tavLst>
                                    </p:anim>
                                    <p:anim calcmode="lin" valueType="num">
                                      <p:cBhvr additive="base">
                                        <p:cTn id="8"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Right 4">
            <a:extLst>
              <a:ext uri="{FF2B5EF4-FFF2-40B4-BE49-F238E27FC236}">
                <a16:creationId xmlns:a16="http://schemas.microsoft.com/office/drawing/2014/main" id="{CE12B829-B8D3-8D05-3CFB-6311CC2611A5}"/>
              </a:ext>
            </a:extLst>
          </p:cNvPr>
          <p:cNvSpPr/>
          <p:nvPr/>
        </p:nvSpPr>
        <p:spPr>
          <a:xfrm>
            <a:off x="0" y="-1630681"/>
            <a:ext cx="4368800" cy="2448560"/>
          </a:xfrm>
          <a:prstGeom prst="rightArrow">
            <a:avLst/>
          </a:prstGeom>
          <a:solidFill>
            <a:schemeClr val="tx1"/>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4000" b="1" dirty="0">
              <a:solidFill>
                <a:schemeClr val="bg1"/>
              </a:solidFill>
              <a:latin typeface="Stencil" panose="040409050D0802020404" pitchFamily="82" charset="0"/>
            </a:endParaRPr>
          </a:p>
        </p:txBody>
      </p:sp>
      <p:sp>
        <p:nvSpPr>
          <p:cNvPr id="7" name="Arrow: Left 6">
            <a:extLst>
              <a:ext uri="{FF2B5EF4-FFF2-40B4-BE49-F238E27FC236}">
                <a16:creationId xmlns:a16="http://schemas.microsoft.com/office/drawing/2014/main" id="{780FF4D1-1995-D984-DB5F-EEE49210C981}"/>
              </a:ext>
            </a:extLst>
          </p:cNvPr>
          <p:cNvSpPr/>
          <p:nvPr/>
        </p:nvSpPr>
        <p:spPr>
          <a:xfrm>
            <a:off x="4023360" y="-304799"/>
            <a:ext cx="8270240" cy="5323840"/>
          </a:xfrm>
          <a:prstGeom prst="lef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71CCA4A4-B525-F5BC-137B-08F3364DDB9F}"/>
              </a:ext>
            </a:extLst>
          </p:cNvPr>
          <p:cNvSpPr txBox="1"/>
          <p:nvPr/>
        </p:nvSpPr>
        <p:spPr>
          <a:xfrm>
            <a:off x="5466080" y="2794000"/>
            <a:ext cx="6827520" cy="2862322"/>
          </a:xfrm>
          <a:prstGeom prst="rect">
            <a:avLst/>
          </a:prstGeom>
          <a:noFill/>
        </p:spPr>
        <p:txBody>
          <a:bodyPr wrap="square" rtlCol="0">
            <a:spAutoFit/>
          </a:bodyPr>
          <a:lstStyle/>
          <a:p>
            <a:pPr algn="ctr"/>
            <a:r>
              <a:rPr lang="en-US" dirty="0">
                <a:solidFill>
                  <a:schemeClr val="bg1"/>
                </a:solidFill>
                <a:latin typeface="Arial Narrow" panose="020B0606020202030204" pitchFamily="34" charset="0"/>
              </a:rPr>
              <a:t>This project develops a performance dashboard to assess and enhance supply chain operations. The dashboard provides insights into logistics distribution, revenue contribution by product categories, cost efficiency, manufacturing performance, and defect rates. By leveraging visual analytics, the study highlights operational strengths and weaknesses, enabling data-driven decisions and supporting strategies for improved efficiency and customer satisfaction. Additionally, the dashboard facilitates proactive monitoring and quick response to potential supply chain disruptions, promoting greater reliability and resilience in operations.</a:t>
            </a:r>
            <a:endParaRPr lang="en-IN" dirty="0">
              <a:solidFill>
                <a:schemeClr val="bg1"/>
              </a:solidFill>
              <a:latin typeface="Arial Narrow" panose="020B0606020202030204" pitchFamily="34" charset="0"/>
            </a:endParaRPr>
          </a:p>
          <a:p>
            <a:pPr algn="ctr"/>
            <a:endParaRPr lang="en-IN" dirty="0"/>
          </a:p>
        </p:txBody>
      </p:sp>
      <p:sp>
        <p:nvSpPr>
          <p:cNvPr id="9" name="TextBox 8">
            <a:extLst>
              <a:ext uri="{FF2B5EF4-FFF2-40B4-BE49-F238E27FC236}">
                <a16:creationId xmlns:a16="http://schemas.microsoft.com/office/drawing/2014/main" id="{89D16BF8-05A2-BB89-2411-B5C4EA080612}"/>
              </a:ext>
            </a:extLst>
          </p:cNvPr>
          <p:cNvSpPr txBox="1"/>
          <p:nvPr/>
        </p:nvSpPr>
        <p:spPr>
          <a:xfrm>
            <a:off x="294640" y="684480"/>
            <a:ext cx="2885440" cy="1323439"/>
          </a:xfrm>
          <a:prstGeom prst="rect">
            <a:avLst/>
          </a:prstGeom>
          <a:noFill/>
        </p:spPr>
        <p:txBody>
          <a:bodyPr wrap="square" rtlCol="0">
            <a:spAutoFit/>
          </a:bodyPr>
          <a:lstStyle/>
          <a:p>
            <a:pPr algn="ctr"/>
            <a:r>
              <a:rPr lang="en-IN" sz="4000" dirty="0">
                <a:solidFill>
                  <a:schemeClr val="bg1"/>
                </a:solidFill>
                <a:latin typeface="Stencil" panose="040409050D0802020404" pitchFamily="82" charset="0"/>
              </a:rPr>
              <a:t>EXECUTIVE    SUMMARY</a:t>
            </a:r>
          </a:p>
        </p:txBody>
      </p:sp>
    </p:spTree>
    <p:extLst>
      <p:ext uri="{BB962C8B-B14F-4D97-AF65-F5344CB8AC3E}">
        <p14:creationId xmlns:p14="http://schemas.microsoft.com/office/powerpoint/2010/main" val="191000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 0 L 0 0.25 E" pathEditMode="relative" ptsTypes="">
                                      <p:cBhvr>
                                        <p:cTn id="6" dur="1500" fill="hold"/>
                                        <p:tgtEl>
                                          <p:spTgt spid="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0" nodeType="clickEffect">
                                  <p:stCondLst>
                                    <p:cond delay="0"/>
                                  </p:stCondLst>
                                  <p:childTnLst>
                                    <p:animMotion origin="layout" path="M 0 0 L 0 0.25 E" pathEditMode="relative" ptsTypes="">
                                      <p:cBhvr>
                                        <p:cTn id="10" dur="1500" fill="hold"/>
                                        <p:tgtEl>
                                          <p:spTgt spid="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D1B0547-C721-3887-6D19-C174657621C6}"/>
              </a:ext>
            </a:extLst>
          </p:cNvPr>
          <p:cNvSpPr/>
          <p:nvPr/>
        </p:nvSpPr>
        <p:spPr>
          <a:xfrm>
            <a:off x="284480" y="2519680"/>
            <a:ext cx="2590800" cy="4338320"/>
          </a:xfrm>
          <a:prstGeom prst="roundRect">
            <a:avLst>
              <a:gd name="adj" fmla="val 492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Narrow" panose="020B0606020202030204" pitchFamily="34" charset="0"/>
              </a:rPr>
              <a:t>To evaluate overall supply chain performance through data visualization.</a:t>
            </a:r>
            <a:endParaRPr lang="en-IN" sz="2000" b="1" dirty="0">
              <a:solidFill>
                <a:schemeClr val="tx1"/>
              </a:solidFill>
              <a:latin typeface="Arial Narrow" panose="020B0606020202030204" pitchFamily="34" charset="0"/>
            </a:endParaRPr>
          </a:p>
        </p:txBody>
      </p:sp>
      <p:sp>
        <p:nvSpPr>
          <p:cNvPr id="3" name="Rectangle: Rounded Corners 2">
            <a:extLst>
              <a:ext uri="{FF2B5EF4-FFF2-40B4-BE49-F238E27FC236}">
                <a16:creationId xmlns:a16="http://schemas.microsoft.com/office/drawing/2014/main" id="{E318EC7A-77D3-3933-E604-B3A7912A60A1}"/>
              </a:ext>
            </a:extLst>
          </p:cNvPr>
          <p:cNvSpPr/>
          <p:nvPr/>
        </p:nvSpPr>
        <p:spPr>
          <a:xfrm>
            <a:off x="3253741" y="2519680"/>
            <a:ext cx="2590800" cy="4338320"/>
          </a:xfrm>
          <a:prstGeom prst="roundRect">
            <a:avLst>
              <a:gd name="adj" fmla="val 492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Narrow" panose="020B0606020202030204" pitchFamily="34" charset="0"/>
              </a:rPr>
              <a:t>To analyze logistics and transportation patterns influencing cost and efficiency.</a:t>
            </a:r>
            <a:endParaRPr lang="en-IN" sz="2000" b="1" dirty="0">
              <a:solidFill>
                <a:schemeClr val="tx1"/>
              </a:solidFill>
              <a:latin typeface="Arial Narrow" panose="020B0606020202030204" pitchFamily="34" charset="0"/>
            </a:endParaRPr>
          </a:p>
        </p:txBody>
      </p:sp>
      <p:sp>
        <p:nvSpPr>
          <p:cNvPr id="4" name="Rectangle: Rounded Corners 3">
            <a:extLst>
              <a:ext uri="{FF2B5EF4-FFF2-40B4-BE49-F238E27FC236}">
                <a16:creationId xmlns:a16="http://schemas.microsoft.com/office/drawing/2014/main" id="{FC155D3C-56D1-312A-FF59-1EF17922F484}"/>
              </a:ext>
            </a:extLst>
          </p:cNvPr>
          <p:cNvSpPr/>
          <p:nvPr/>
        </p:nvSpPr>
        <p:spPr>
          <a:xfrm>
            <a:off x="6347460" y="2519680"/>
            <a:ext cx="2590800" cy="4338320"/>
          </a:xfrm>
          <a:prstGeom prst="roundRect">
            <a:avLst>
              <a:gd name="adj" fmla="val 492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Narrow" panose="020B0606020202030204" pitchFamily="34" charset="0"/>
              </a:rPr>
              <a:t>To assess product categories based on order volumes, revenue, and quality indicators.</a:t>
            </a:r>
            <a:endParaRPr lang="en-IN" sz="2000" b="1" dirty="0">
              <a:solidFill>
                <a:schemeClr val="tx1"/>
              </a:solidFill>
              <a:latin typeface="Arial Narrow" panose="020B0606020202030204" pitchFamily="34" charset="0"/>
            </a:endParaRPr>
          </a:p>
        </p:txBody>
      </p:sp>
      <p:sp>
        <p:nvSpPr>
          <p:cNvPr id="5" name="Rectangle: Rounded Corners 4">
            <a:extLst>
              <a:ext uri="{FF2B5EF4-FFF2-40B4-BE49-F238E27FC236}">
                <a16:creationId xmlns:a16="http://schemas.microsoft.com/office/drawing/2014/main" id="{837D41C0-6890-CB15-23AA-E16A0DAB7567}"/>
              </a:ext>
            </a:extLst>
          </p:cNvPr>
          <p:cNvSpPr/>
          <p:nvPr/>
        </p:nvSpPr>
        <p:spPr>
          <a:xfrm>
            <a:off x="9316720" y="2519680"/>
            <a:ext cx="2590800" cy="4338320"/>
          </a:xfrm>
          <a:prstGeom prst="roundRect">
            <a:avLst>
              <a:gd name="adj" fmla="val 492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Narrow" panose="020B0606020202030204" pitchFamily="34" charset="0"/>
              </a:rPr>
              <a:t>To identify areas of improvement and provide actionable recommendations.</a:t>
            </a:r>
            <a:endParaRPr lang="en-IN" sz="2000" b="1" dirty="0">
              <a:solidFill>
                <a:schemeClr val="tx1"/>
              </a:solidFill>
              <a:latin typeface="Arial Narrow" panose="020B0606020202030204" pitchFamily="34" charset="0"/>
            </a:endParaRPr>
          </a:p>
        </p:txBody>
      </p:sp>
      <p:sp>
        <p:nvSpPr>
          <p:cNvPr id="8" name="TextBox 7">
            <a:extLst>
              <a:ext uri="{FF2B5EF4-FFF2-40B4-BE49-F238E27FC236}">
                <a16:creationId xmlns:a16="http://schemas.microsoft.com/office/drawing/2014/main" id="{31E696E6-334B-23C4-DA8E-FEFE59DFBD5C}"/>
              </a:ext>
            </a:extLst>
          </p:cNvPr>
          <p:cNvSpPr txBox="1"/>
          <p:nvPr/>
        </p:nvSpPr>
        <p:spPr>
          <a:xfrm>
            <a:off x="3403600" y="284480"/>
            <a:ext cx="5648960" cy="646331"/>
          </a:xfrm>
          <a:prstGeom prst="rect">
            <a:avLst/>
          </a:prstGeom>
          <a:noFill/>
        </p:spPr>
        <p:txBody>
          <a:bodyPr wrap="square" rtlCol="0">
            <a:spAutoFit/>
          </a:bodyPr>
          <a:lstStyle/>
          <a:p>
            <a:r>
              <a:rPr lang="en-IN" sz="3600" b="1" dirty="0">
                <a:solidFill>
                  <a:schemeClr val="bg1"/>
                </a:solidFill>
                <a:latin typeface="Stencil" panose="040409050D0802020404" pitchFamily="82" charset="0"/>
              </a:rPr>
              <a:t>SCOPE 0F THE RESEARCH</a:t>
            </a:r>
          </a:p>
        </p:txBody>
      </p:sp>
    </p:spTree>
    <p:extLst>
      <p:ext uri="{BB962C8B-B14F-4D97-AF65-F5344CB8AC3E}">
        <p14:creationId xmlns:p14="http://schemas.microsoft.com/office/powerpoint/2010/main" val="158997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695AF82C-17EC-CCFE-8CED-0E45D7182D5F}"/>
              </a:ext>
            </a:extLst>
          </p:cNvPr>
          <p:cNvGrpSpPr/>
          <p:nvPr/>
        </p:nvGrpSpPr>
        <p:grpSpPr>
          <a:xfrm>
            <a:off x="-3871965" y="1195754"/>
            <a:ext cx="9599525" cy="9705068"/>
            <a:chOff x="2499660" y="245556"/>
            <a:chExt cx="6769891" cy="6681520"/>
          </a:xfrm>
          <a:solidFill>
            <a:schemeClr val="tx1">
              <a:lumMod val="95000"/>
              <a:lumOff val="5000"/>
            </a:schemeClr>
          </a:solidFill>
        </p:grpSpPr>
        <p:sp>
          <p:nvSpPr>
            <p:cNvPr id="17" name="Freeform: Shape 16">
              <a:extLst>
                <a:ext uri="{FF2B5EF4-FFF2-40B4-BE49-F238E27FC236}">
                  <a16:creationId xmlns:a16="http://schemas.microsoft.com/office/drawing/2014/main" id="{58E3FDDB-BD2A-653E-4EDB-E223F5ADBB7D}"/>
                </a:ext>
              </a:extLst>
            </p:cNvPr>
            <p:cNvSpPr/>
            <p:nvPr/>
          </p:nvSpPr>
          <p:spPr>
            <a:xfrm rot="5400000">
              <a:off x="2521753" y="223463"/>
              <a:ext cx="3252270" cy="3296456"/>
            </a:xfrm>
            <a:custGeom>
              <a:avLst/>
              <a:gdLst>
                <a:gd name="connsiteX0" fmla="*/ 0 w 3252270"/>
                <a:gd name="connsiteY0" fmla="*/ 0 h 3296456"/>
                <a:gd name="connsiteX1" fmla="*/ 1673629 w 3252270"/>
                <a:gd name="connsiteY1" fmla="*/ 0 h 3296456"/>
                <a:gd name="connsiteX2" fmla="*/ 1677905 w 3252270"/>
                <a:gd name="connsiteY2" fmla="*/ 86933 h 3296456"/>
                <a:gd name="connsiteX3" fmla="*/ 3169859 w 3252270"/>
                <a:gd name="connsiteY3" fmla="*/ 1618381 h 3296456"/>
                <a:gd name="connsiteX4" fmla="*/ 3252270 w 3252270"/>
                <a:gd name="connsiteY4" fmla="*/ 1622652 h 3296456"/>
                <a:gd name="connsiteX5" fmla="*/ 3252269 w 3252270"/>
                <a:gd name="connsiteY5" fmla="*/ 3296456 h 3296456"/>
                <a:gd name="connsiteX6" fmla="*/ 3168730 w 3252270"/>
                <a:gd name="connsiteY6" fmla="*/ 3294316 h 3296456"/>
                <a:gd name="connsiteX7" fmla="*/ 2141 w 3252270"/>
                <a:gd name="connsiteY7" fmla="*/ 85816 h 3296456"/>
                <a:gd name="connsiteX8" fmla="*/ 0 w 3252270"/>
                <a:gd name="connsiteY8" fmla="*/ 0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6">
                  <a:moveTo>
                    <a:pt x="0" y="0"/>
                  </a:moveTo>
                  <a:lnTo>
                    <a:pt x="1673629" y="0"/>
                  </a:lnTo>
                  <a:lnTo>
                    <a:pt x="1677905" y="86933"/>
                  </a:lnTo>
                  <a:cubicBezTo>
                    <a:pt x="1757795" y="894422"/>
                    <a:pt x="2383194" y="1536376"/>
                    <a:pt x="3169859" y="1618381"/>
                  </a:cubicBezTo>
                  <a:lnTo>
                    <a:pt x="3252270" y="1622652"/>
                  </a:lnTo>
                  <a:lnTo>
                    <a:pt x="3252269" y="3296456"/>
                  </a:lnTo>
                  <a:lnTo>
                    <a:pt x="3168730" y="3294316"/>
                  </a:lnTo>
                  <a:cubicBezTo>
                    <a:pt x="1459386" y="3206521"/>
                    <a:pt x="88788" y="1817784"/>
                    <a:pt x="2141" y="85816"/>
                  </a:cubicBez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Freeform: Shape 15">
              <a:extLst>
                <a:ext uri="{FF2B5EF4-FFF2-40B4-BE49-F238E27FC236}">
                  <a16:creationId xmlns:a16="http://schemas.microsoft.com/office/drawing/2014/main" id="{88E7144E-EA65-E2E0-D967-8D91F8461EC2}"/>
                </a:ext>
              </a:extLst>
            </p:cNvPr>
            <p:cNvSpPr/>
            <p:nvPr/>
          </p:nvSpPr>
          <p:spPr>
            <a:xfrm rot="5400000">
              <a:off x="5995188" y="223464"/>
              <a:ext cx="3252269" cy="3296456"/>
            </a:xfrm>
            <a:custGeom>
              <a:avLst/>
              <a:gdLst>
                <a:gd name="connsiteX0" fmla="*/ 0 w 3252270"/>
                <a:gd name="connsiteY0" fmla="*/ 3296455 h 3296455"/>
                <a:gd name="connsiteX1" fmla="*/ 2141 w 3252270"/>
                <a:gd name="connsiteY1" fmla="*/ 3210640 h 3296455"/>
                <a:gd name="connsiteX2" fmla="*/ 3168730 w 3252270"/>
                <a:gd name="connsiteY2" fmla="*/ 2140 h 3296455"/>
                <a:gd name="connsiteX3" fmla="*/ 3252270 w 3252270"/>
                <a:gd name="connsiteY3" fmla="*/ 0 h 3296455"/>
                <a:gd name="connsiteX4" fmla="*/ 3252270 w 3252270"/>
                <a:gd name="connsiteY4" fmla="*/ 1673803 h 3296455"/>
                <a:gd name="connsiteX5" fmla="*/ 3169859 w 3252270"/>
                <a:gd name="connsiteY5" fmla="*/ 1678075 h 3296455"/>
                <a:gd name="connsiteX6" fmla="*/ 1677905 w 3252270"/>
                <a:gd name="connsiteY6" fmla="*/ 3209523 h 3296455"/>
                <a:gd name="connsiteX7" fmla="*/ 1673629 w 3252270"/>
                <a:gd name="connsiteY7" fmla="*/ 3296455 h 3296455"/>
                <a:gd name="connsiteX8" fmla="*/ 0 w 3252270"/>
                <a:gd name="connsiteY8" fmla="*/ 3296455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5">
                  <a:moveTo>
                    <a:pt x="0" y="3296455"/>
                  </a:moveTo>
                  <a:lnTo>
                    <a:pt x="2141" y="3210640"/>
                  </a:lnTo>
                  <a:cubicBezTo>
                    <a:pt x="88788" y="1478671"/>
                    <a:pt x="1459386" y="89934"/>
                    <a:pt x="3168730" y="2140"/>
                  </a:cubicBezTo>
                  <a:lnTo>
                    <a:pt x="3252270" y="0"/>
                  </a:lnTo>
                  <a:lnTo>
                    <a:pt x="3252270" y="1673803"/>
                  </a:lnTo>
                  <a:lnTo>
                    <a:pt x="3169859" y="1678075"/>
                  </a:lnTo>
                  <a:cubicBezTo>
                    <a:pt x="2383194" y="1760080"/>
                    <a:pt x="1757795" y="2402033"/>
                    <a:pt x="1677905" y="3209523"/>
                  </a:cubicBezTo>
                  <a:lnTo>
                    <a:pt x="1673629" y="3296455"/>
                  </a:lnTo>
                  <a:lnTo>
                    <a:pt x="0" y="3296455"/>
                  </a:lnTo>
                  <a:close/>
                </a:path>
              </a:pathLst>
            </a:custGeom>
            <a:blipFill dpi="0" rotWithShape="0">
              <a:blip r:embed="rId2"/>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B9456FAF-4496-E026-A475-5B85A0FD1532}"/>
                </a:ext>
              </a:extLst>
            </p:cNvPr>
            <p:cNvSpPr/>
            <p:nvPr/>
          </p:nvSpPr>
          <p:spPr>
            <a:xfrm rot="5400000">
              <a:off x="2521754" y="3652713"/>
              <a:ext cx="3252269" cy="3296456"/>
            </a:xfrm>
            <a:custGeom>
              <a:avLst/>
              <a:gdLst>
                <a:gd name="connsiteX0" fmla="*/ 0 w 3252269"/>
                <a:gd name="connsiteY0" fmla="*/ 3296456 h 3296456"/>
                <a:gd name="connsiteX1" fmla="*/ 1 w 3252269"/>
                <a:gd name="connsiteY1" fmla="*/ 1622652 h 3296456"/>
                <a:gd name="connsiteX2" fmla="*/ 82410 w 3252269"/>
                <a:gd name="connsiteY2" fmla="*/ 1618381 h 3296456"/>
                <a:gd name="connsiteX3" fmla="*/ 1574363 w 3252269"/>
                <a:gd name="connsiteY3" fmla="*/ 86933 h 3296456"/>
                <a:gd name="connsiteX4" fmla="*/ 1578640 w 3252269"/>
                <a:gd name="connsiteY4" fmla="*/ 0 h 3296456"/>
                <a:gd name="connsiteX5" fmla="*/ 3252269 w 3252269"/>
                <a:gd name="connsiteY5" fmla="*/ 0 h 3296456"/>
                <a:gd name="connsiteX6" fmla="*/ 3250127 w 3252269"/>
                <a:gd name="connsiteY6" fmla="*/ 85816 h 3296456"/>
                <a:gd name="connsiteX7" fmla="*/ 83538 w 3252269"/>
                <a:gd name="connsiteY7" fmla="*/ 3294316 h 3296456"/>
                <a:gd name="connsiteX8" fmla="*/ 0 w 3252269"/>
                <a:gd name="connsiteY8" fmla="*/ 3296456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9" h="3296456">
                  <a:moveTo>
                    <a:pt x="0" y="3296456"/>
                  </a:moveTo>
                  <a:lnTo>
                    <a:pt x="1" y="1622652"/>
                  </a:lnTo>
                  <a:lnTo>
                    <a:pt x="82410" y="1618381"/>
                  </a:lnTo>
                  <a:cubicBezTo>
                    <a:pt x="869074" y="1536376"/>
                    <a:pt x="1494473" y="894422"/>
                    <a:pt x="1574363" y="86933"/>
                  </a:cubicBezTo>
                  <a:lnTo>
                    <a:pt x="1578640" y="0"/>
                  </a:lnTo>
                  <a:lnTo>
                    <a:pt x="3252269" y="0"/>
                  </a:lnTo>
                  <a:lnTo>
                    <a:pt x="3250127" y="85816"/>
                  </a:lnTo>
                  <a:cubicBezTo>
                    <a:pt x="3163480" y="1817784"/>
                    <a:pt x="1792883" y="3206521"/>
                    <a:pt x="83538" y="3294316"/>
                  </a:cubicBezTo>
                  <a:lnTo>
                    <a:pt x="0" y="329645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Freeform: Shape 7">
              <a:extLst>
                <a:ext uri="{FF2B5EF4-FFF2-40B4-BE49-F238E27FC236}">
                  <a16:creationId xmlns:a16="http://schemas.microsoft.com/office/drawing/2014/main" id="{F7F2CF13-5B18-1888-F4E6-BBB51B29F3E5}"/>
                </a:ext>
              </a:extLst>
            </p:cNvPr>
            <p:cNvSpPr/>
            <p:nvPr/>
          </p:nvSpPr>
          <p:spPr>
            <a:xfrm rot="5400000">
              <a:off x="5995190" y="3652714"/>
              <a:ext cx="3252268" cy="3296455"/>
            </a:xfrm>
            <a:custGeom>
              <a:avLst/>
              <a:gdLst>
                <a:gd name="connsiteX0" fmla="*/ 0 w 3252268"/>
                <a:gd name="connsiteY0" fmla="*/ 1673803 h 3296455"/>
                <a:gd name="connsiteX1" fmla="*/ 0 w 3252268"/>
                <a:gd name="connsiteY1" fmla="*/ 0 h 3296455"/>
                <a:gd name="connsiteX2" fmla="*/ 83538 w 3252268"/>
                <a:gd name="connsiteY2" fmla="*/ 2140 h 3296455"/>
                <a:gd name="connsiteX3" fmla="*/ 3250126 w 3252268"/>
                <a:gd name="connsiteY3" fmla="*/ 3210640 h 3296455"/>
                <a:gd name="connsiteX4" fmla="*/ 3252268 w 3252268"/>
                <a:gd name="connsiteY4" fmla="*/ 3296455 h 3296455"/>
                <a:gd name="connsiteX5" fmla="*/ 1578639 w 3252268"/>
                <a:gd name="connsiteY5" fmla="*/ 3296455 h 3296455"/>
                <a:gd name="connsiteX6" fmla="*/ 1574362 w 3252268"/>
                <a:gd name="connsiteY6" fmla="*/ 3209523 h 3296455"/>
                <a:gd name="connsiteX7" fmla="*/ 82409 w 3252268"/>
                <a:gd name="connsiteY7" fmla="*/ 1678075 h 3296455"/>
                <a:gd name="connsiteX8" fmla="*/ 0 w 3252268"/>
                <a:gd name="connsiteY8" fmla="*/ 1673803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8" h="3296455">
                  <a:moveTo>
                    <a:pt x="0" y="1673803"/>
                  </a:moveTo>
                  <a:lnTo>
                    <a:pt x="0" y="0"/>
                  </a:lnTo>
                  <a:lnTo>
                    <a:pt x="83538" y="2140"/>
                  </a:lnTo>
                  <a:cubicBezTo>
                    <a:pt x="1792883" y="89934"/>
                    <a:pt x="3163480" y="1478671"/>
                    <a:pt x="3250126" y="3210640"/>
                  </a:cubicBezTo>
                  <a:lnTo>
                    <a:pt x="3252268" y="3296455"/>
                  </a:lnTo>
                  <a:lnTo>
                    <a:pt x="1578639" y="3296455"/>
                  </a:lnTo>
                  <a:lnTo>
                    <a:pt x="1574362" y="3209523"/>
                  </a:lnTo>
                  <a:cubicBezTo>
                    <a:pt x="1494472" y="2402033"/>
                    <a:pt x="869073" y="1760080"/>
                    <a:pt x="82409" y="1678075"/>
                  </a:cubicBezTo>
                  <a:lnTo>
                    <a:pt x="0" y="167380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
        <p:nvSpPr>
          <p:cNvPr id="2" name="TextBox 1">
            <a:extLst>
              <a:ext uri="{FF2B5EF4-FFF2-40B4-BE49-F238E27FC236}">
                <a16:creationId xmlns:a16="http://schemas.microsoft.com/office/drawing/2014/main" id="{94176890-E463-ADC3-7F2F-D635AB47C4B1}"/>
              </a:ext>
            </a:extLst>
          </p:cNvPr>
          <p:cNvSpPr txBox="1"/>
          <p:nvPr/>
        </p:nvSpPr>
        <p:spPr>
          <a:xfrm>
            <a:off x="6752492" y="2505670"/>
            <a:ext cx="3446583" cy="1200329"/>
          </a:xfrm>
          <a:prstGeom prst="rect">
            <a:avLst/>
          </a:prstGeom>
          <a:noFill/>
        </p:spPr>
        <p:txBody>
          <a:bodyPr wrap="square" rtlCol="0">
            <a:spAutoFit/>
          </a:bodyPr>
          <a:lstStyle/>
          <a:p>
            <a:pPr algn="ctr"/>
            <a:r>
              <a:rPr lang="en-US" sz="2400" dirty="0">
                <a:solidFill>
                  <a:schemeClr val="bg1"/>
                </a:solidFill>
                <a:latin typeface="Arial Narrow" panose="020B0606020202030204" pitchFamily="34" charset="0"/>
              </a:rPr>
              <a:t>Maintain the right balance of stock to minimize shortages and reduce excess costs.</a:t>
            </a:r>
            <a:endParaRPr lang="en-IN" sz="2400" dirty="0">
              <a:solidFill>
                <a:schemeClr val="bg1"/>
              </a:solidFill>
              <a:latin typeface="Arial Narrow" panose="020B0606020202030204" pitchFamily="34" charset="0"/>
            </a:endParaRPr>
          </a:p>
        </p:txBody>
      </p:sp>
      <p:sp>
        <p:nvSpPr>
          <p:cNvPr id="3" name="TextBox 2">
            <a:extLst>
              <a:ext uri="{FF2B5EF4-FFF2-40B4-BE49-F238E27FC236}">
                <a16:creationId xmlns:a16="http://schemas.microsoft.com/office/drawing/2014/main" id="{E6401BF0-F4A1-A14A-5972-F9ED16D01D14}"/>
              </a:ext>
            </a:extLst>
          </p:cNvPr>
          <p:cNvSpPr txBox="1"/>
          <p:nvPr/>
        </p:nvSpPr>
        <p:spPr>
          <a:xfrm>
            <a:off x="595558" y="4904092"/>
            <a:ext cx="2318464" cy="1015663"/>
          </a:xfrm>
          <a:prstGeom prst="rect">
            <a:avLst/>
          </a:prstGeom>
          <a:noFill/>
        </p:spPr>
        <p:txBody>
          <a:bodyPr wrap="square" rtlCol="0">
            <a:spAutoFit/>
          </a:bodyPr>
          <a:lstStyle/>
          <a:p>
            <a:r>
              <a:rPr lang="en-IN" sz="2000" dirty="0">
                <a:solidFill>
                  <a:schemeClr val="bg1"/>
                </a:solidFill>
                <a:latin typeface="Arial Black" panose="020B0A04020102020204" pitchFamily="34" charset="0"/>
              </a:rPr>
              <a:t>OPTIMIZE INVENTORY MANAGEMENT</a:t>
            </a:r>
          </a:p>
        </p:txBody>
      </p:sp>
      <p:sp>
        <p:nvSpPr>
          <p:cNvPr id="6" name="Rectangle: Rounded Corners 5">
            <a:extLst>
              <a:ext uri="{FF2B5EF4-FFF2-40B4-BE49-F238E27FC236}">
                <a16:creationId xmlns:a16="http://schemas.microsoft.com/office/drawing/2014/main" id="{56C47734-FCD3-BBC8-51BA-784374D4BF71}"/>
              </a:ext>
            </a:extLst>
          </p:cNvPr>
          <p:cNvSpPr/>
          <p:nvPr/>
        </p:nvSpPr>
        <p:spPr>
          <a:xfrm>
            <a:off x="4460237" y="10510"/>
            <a:ext cx="3271520" cy="100584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9482D9B-17FF-717F-6580-E9CBDEA373BC}"/>
              </a:ext>
            </a:extLst>
          </p:cNvPr>
          <p:cNvSpPr txBox="1"/>
          <p:nvPr/>
        </p:nvSpPr>
        <p:spPr>
          <a:xfrm>
            <a:off x="4533478" y="159487"/>
            <a:ext cx="3125038" cy="707886"/>
          </a:xfrm>
          <a:prstGeom prst="rect">
            <a:avLst/>
          </a:prstGeom>
          <a:noFill/>
          <a:ln>
            <a:noFill/>
          </a:ln>
        </p:spPr>
        <p:txBody>
          <a:bodyPr wrap="square" rtlCol="0">
            <a:spAutoFit/>
          </a:bodyPr>
          <a:lstStyle/>
          <a:p>
            <a:r>
              <a:rPr lang="en-IN" sz="4000" b="1" dirty="0">
                <a:latin typeface="Stencil" panose="040409050D0802020404" pitchFamily="82" charset="0"/>
              </a:rPr>
              <a:t>OBJECTIVES</a:t>
            </a:r>
          </a:p>
        </p:txBody>
      </p:sp>
    </p:spTree>
    <p:extLst>
      <p:ext uri="{BB962C8B-B14F-4D97-AF65-F5344CB8AC3E}">
        <p14:creationId xmlns:p14="http://schemas.microsoft.com/office/powerpoint/2010/main" val="1086081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A92CA1-341B-D7EA-BDE1-6EF54375ADE0}"/>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29A62114-95E0-1794-3167-4C5FAA8D0C4E}"/>
              </a:ext>
            </a:extLst>
          </p:cNvPr>
          <p:cNvGrpSpPr/>
          <p:nvPr/>
        </p:nvGrpSpPr>
        <p:grpSpPr>
          <a:xfrm rot="16200000">
            <a:off x="-3871965" y="1195754"/>
            <a:ext cx="9599525" cy="9705068"/>
            <a:chOff x="2499660" y="245556"/>
            <a:chExt cx="6769891" cy="6681520"/>
          </a:xfrm>
          <a:solidFill>
            <a:schemeClr val="tx1">
              <a:lumMod val="95000"/>
              <a:lumOff val="5000"/>
            </a:schemeClr>
          </a:solidFill>
        </p:grpSpPr>
        <p:sp>
          <p:nvSpPr>
            <p:cNvPr id="17" name="Freeform: Shape 16">
              <a:extLst>
                <a:ext uri="{FF2B5EF4-FFF2-40B4-BE49-F238E27FC236}">
                  <a16:creationId xmlns:a16="http://schemas.microsoft.com/office/drawing/2014/main" id="{5FF4D0E1-2346-3E9F-233B-2444B6E9D042}"/>
                </a:ext>
              </a:extLst>
            </p:cNvPr>
            <p:cNvSpPr/>
            <p:nvPr/>
          </p:nvSpPr>
          <p:spPr>
            <a:xfrm rot="5400000">
              <a:off x="2521753" y="223463"/>
              <a:ext cx="3252270" cy="3296456"/>
            </a:xfrm>
            <a:custGeom>
              <a:avLst/>
              <a:gdLst>
                <a:gd name="connsiteX0" fmla="*/ 0 w 3252270"/>
                <a:gd name="connsiteY0" fmla="*/ 0 h 3296456"/>
                <a:gd name="connsiteX1" fmla="*/ 1673629 w 3252270"/>
                <a:gd name="connsiteY1" fmla="*/ 0 h 3296456"/>
                <a:gd name="connsiteX2" fmla="*/ 1677905 w 3252270"/>
                <a:gd name="connsiteY2" fmla="*/ 86933 h 3296456"/>
                <a:gd name="connsiteX3" fmla="*/ 3169859 w 3252270"/>
                <a:gd name="connsiteY3" fmla="*/ 1618381 h 3296456"/>
                <a:gd name="connsiteX4" fmla="*/ 3252270 w 3252270"/>
                <a:gd name="connsiteY4" fmla="*/ 1622652 h 3296456"/>
                <a:gd name="connsiteX5" fmla="*/ 3252269 w 3252270"/>
                <a:gd name="connsiteY5" fmla="*/ 3296456 h 3296456"/>
                <a:gd name="connsiteX6" fmla="*/ 3168730 w 3252270"/>
                <a:gd name="connsiteY6" fmla="*/ 3294316 h 3296456"/>
                <a:gd name="connsiteX7" fmla="*/ 2141 w 3252270"/>
                <a:gd name="connsiteY7" fmla="*/ 85816 h 3296456"/>
                <a:gd name="connsiteX8" fmla="*/ 0 w 3252270"/>
                <a:gd name="connsiteY8" fmla="*/ 0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6">
                  <a:moveTo>
                    <a:pt x="0" y="0"/>
                  </a:moveTo>
                  <a:lnTo>
                    <a:pt x="1673629" y="0"/>
                  </a:lnTo>
                  <a:lnTo>
                    <a:pt x="1677905" y="86933"/>
                  </a:lnTo>
                  <a:cubicBezTo>
                    <a:pt x="1757795" y="894422"/>
                    <a:pt x="2383194" y="1536376"/>
                    <a:pt x="3169859" y="1618381"/>
                  </a:cubicBezTo>
                  <a:lnTo>
                    <a:pt x="3252270" y="1622652"/>
                  </a:lnTo>
                  <a:lnTo>
                    <a:pt x="3252269" y="3296456"/>
                  </a:lnTo>
                  <a:lnTo>
                    <a:pt x="3168730" y="3294316"/>
                  </a:lnTo>
                  <a:cubicBezTo>
                    <a:pt x="1459386" y="3206521"/>
                    <a:pt x="88788" y="1817784"/>
                    <a:pt x="2141" y="85816"/>
                  </a:cubicBez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Freeform: Shape 15">
              <a:extLst>
                <a:ext uri="{FF2B5EF4-FFF2-40B4-BE49-F238E27FC236}">
                  <a16:creationId xmlns:a16="http://schemas.microsoft.com/office/drawing/2014/main" id="{1CC492D6-A41D-21B9-2053-9E5E9AECC5ED}"/>
                </a:ext>
              </a:extLst>
            </p:cNvPr>
            <p:cNvSpPr/>
            <p:nvPr/>
          </p:nvSpPr>
          <p:spPr>
            <a:xfrm rot="5400000">
              <a:off x="5995188" y="223464"/>
              <a:ext cx="3252269" cy="3296456"/>
            </a:xfrm>
            <a:custGeom>
              <a:avLst/>
              <a:gdLst>
                <a:gd name="connsiteX0" fmla="*/ 0 w 3252270"/>
                <a:gd name="connsiteY0" fmla="*/ 3296455 h 3296455"/>
                <a:gd name="connsiteX1" fmla="*/ 2141 w 3252270"/>
                <a:gd name="connsiteY1" fmla="*/ 3210640 h 3296455"/>
                <a:gd name="connsiteX2" fmla="*/ 3168730 w 3252270"/>
                <a:gd name="connsiteY2" fmla="*/ 2140 h 3296455"/>
                <a:gd name="connsiteX3" fmla="*/ 3252270 w 3252270"/>
                <a:gd name="connsiteY3" fmla="*/ 0 h 3296455"/>
                <a:gd name="connsiteX4" fmla="*/ 3252270 w 3252270"/>
                <a:gd name="connsiteY4" fmla="*/ 1673803 h 3296455"/>
                <a:gd name="connsiteX5" fmla="*/ 3169859 w 3252270"/>
                <a:gd name="connsiteY5" fmla="*/ 1678075 h 3296455"/>
                <a:gd name="connsiteX6" fmla="*/ 1677905 w 3252270"/>
                <a:gd name="connsiteY6" fmla="*/ 3209523 h 3296455"/>
                <a:gd name="connsiteX7" fmla="*/ 1673629 w 3252270"/>
                <a:gd name="connsiteY7" fmla="*/ 3296455 h 3296455"/>
                <a:gd name="connsiteX8" fmla="*/ 0 w 3252270"/>
                <a:gd name="connsiteY8" fmla="*/ 3296455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5">
                  <a:moveTo>
                    <a:pt x="0" y="3296455"/>
                  </a:moveTo>
                  <a:lnTo>
                    <a:pt x="2141" y="3210640"/>
                  </a:lnTo>
                  <a:cubicBezTo>
                    <a:pt x="88788" y="1478671"/>
                    <a:pt x="1459386" y="89934"/>
                    <a:pt x="3168730" y="2140"/>
                  </a:cubicBezTo>
                  <a:lnTo>
                    <a:pt x="3252270" y="0"/>
                  </a:lnTo>
                  <a:lnTo>
                    <a:pt x="3252270" y="1673803"/>
                  </a:lnTo>
                  <a:lnTo>
                    <a:pt x="3169859" y="1678075"/>
                  </a:lnTo>
                  <a:cubicBezTo>
                    <a:pt x="2383194" y="1760080"/>
                    <a:pt x="1757795" y="2402033"/>
                    <a:pt x="1677905" y="3209523"/>
                  </a:cubicBezTo>
                  <a:lnTo>
                    <a:pt x="1673629" y="3296455"/>
                  </a:lnTo>
                  <a:lnTo>
                    <a:pt x="0" y="3296455"/>
                  </a:lnTo>
                  <a:close/>
                </a:path>
              </a:pathLst>
            </a:cu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D8E5D942-C3C6-FFD9-609C-9B0D9E52B4A3}"/>
                </a:ext>
              </a:extLst>
            </p:cNvPr>
            <p:cNvSpPr/>
            <p:nvPr/>
          </p:nvSpPr>
          <p:spPr>
            <a:xfrm rot="5400000">
              <a:off x="2521754" y="3652713"/>
              <a:ext cx="3252269" cy="3296456"/>
            </a:xfrm>
            <a:custGeom>
              <a:avLst/>
              <a:gdLst>
                <a:gd name="connsiteX0" fmla="*/ 0 w 3252269"/>
                <a:gd name="connsiteY0" fmla="*/ 3296456 h 3296456"/>
                <a:gd name="connsiteX1" fmla="*/ 1 w 3252269"/>
                <a:gd name="connsiteY1" fmla="*/ 1622652 h 3296456"/>
                <a:gd name="connsiteX2" fmla="*/ 82410 w 3252269"/>
                <a:gd name="connsiteY2" fmla="*/ 1618381 h 3296456"/>
                <a:gd name="connsiteX3" fmla="*/ 1574363 w 3252269"/>
                <a:gd name="connsiteY3" fmla="*/ 86933 h 3296456"/>
                <a:gd name="connsiteX4" fmla="*/ 1578640 w 3252269"/>
                <a:gd name="connsiteY4" fmla="*/ 0 h 3296456"/>
                <a:gd name="connsiteX5" fmla="*/ 3252269 w 3252269"/>
                <a:gd name="connsiteY5" fmla="*/ 0 h 3296456"/>
                <a:gd name="connsiteX6" fmla="*/ 3250127 w 3252269"/>
                <a:gd name="connsiteY6" fmla="*/ 85816 h 3296456"/>
                <a:gd name="connsiteX7" fmla="*/ 83538 w 3252269"/>
                <a:gd name="connsiteY7" fmla="*/ 3294316 h 3296456"/>
                <a:gd name="connsiteX8" fmla="*/ 0 w 3252269"/>
                <a:gd name="connsiteY8" fmla="*/ 3296456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9" h="3296456">
                  <a:moveTo>
                    <a:pt x="0" y="3296456"/>
                  </a:moveTo>
                  <a:lnTo>
                    <a:pt x="1" y="1622652"/>
                  </a:lnTo>
                  <a:lnTo>
                    <a:pt x="82410" y="1618381"/>
                  </a:lnTo>
                  <a:cubicBezTo>
                    <a:pt x="869074" y="1536376"/>
                    <a:pt x="1494473" y="894422"/>
                    <a:pt x="1574363" y="86933"/>
                  </a:cubicBezTo>
                  <a:lnTo>
                    <a:pt x="1578640" y="0"/>
                  </a:lnTo>
                  <a:lnTo>
                    <a:pt x="3252269" y="0"/>
                  </a:lnTo>
                  <a:lnTo>
                    <a:pt x="3250127" y="85816"/>
                  </a:lnTo>
                  <a:cubicBezTo>
                    <a:pt x="3163480" y="1817784"/>
                    <a:pt x="1792883" y="3206521"/>
                    <a:pt x="83538" y="3294316"/>
                  </a:cubicBezTo>
                  <a:lnTo>
                    <a:pt x="0" y="3296456"/>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Freeform: Shape 7">
              <a:extLst>
                <a:ext uri="{FF2B5EF4-FFF2-40B4-BE49-F238E27FC236}">
                  <a16:creationId xmlns:a16="http://schemas.microsoft.com/office/drawing/2014/main" id="{55235208-0DDE-FC4D-1A46-01530B80D4BF}"/>
                </a:ext>
              </a:extLst>
            </p:cNvPr>
            <p:cNvSpPr/>
            <p:nvPr/>
          </p:nvSpPr>
          <p:spPr>
            <a:xfrm rot="5400000">
              <a:off x="5995190" y="3652714"/>
              <a:ext cx="3252268" cy="3296455"/>
            </a:xfrm>
            <a:custGeom>
              <a:avLst/>
              <a:gdLst>
                <a:gd name="connsiteX0" fmla="*/ 0 w 3252268"/>
                <a:gd name="connsiteY0" fmla="*/ 1673803 h 3296455"/>
                <a:gd name="connsiteX1" fmla="*/ 0 w 3252268"/>
                <a:gd name="connsiteY1" fmla="*/ 0 h 3296455"/>
                <a:gd name="connsiteX2" fmla="*/ 83538 w 3252268"/>
                <a:gd name="connsiteY2" fmla="*/ 2140 h 3296455"/>
                <a:gd name="connsiteX3" fmla="*/ 3250126 w 3252268"/>
                <a:gd name="connsiteY3" fmla="*/ 3210640 h 3296455"/>
                <a:gd name="connsiteX4" fmla="*/ 3252268 w 3252268"/>
                <a:gd name="connsiteY4" fmla="*/ 3296455 h 3296455"/>
                <a:gd name="connsiteX5" fmla="*/ 1578639 w 3252268"/>
                <a:gd name="connsiteY5" fmla="*/ 3296455 h 3296455"/>
                <a:gd name="connsiteX6" fmla="*/ 1574362 w 3252268"/>
                <a:gd name="connsiteY6" fmla="*/ 3209523 h 3296455"/>
                <a:gd name="connsiteX7" fmla="*/ 82409 w 3252268"/>
                <a:gd name="connsiteY7" fmla="*/ 1678075 h 3296455"/>
                <a:gd name="connsiteX8" fmla="*/ 0 w 3252268"/>
                <a:gd name="connsiteY8" fmla="*/ 1673803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8" h="3296455">
                  <a:moveTo>
                    <a:pt x="0" y="1673803"/>
                  </a:moveTo>
                  <a:lnTo>
                    <a:pt x="0" y="0"/>
                  </a:lnTo>
                  <a:lnTo>
                    <a:pt x="83538" y="2140"/>
                  </a:lnTo>
                  <a:cubicBezTo>
                    <a:pt x="1792883" y="89934"/>
                    <a:pt x="3163480" y="1478671"/>
                    <a:pt x="3250126" y="3210640"/>
                  </a:cubicBezTo>
                  <a:lnTo>
                    <a:pt x="3252268" y="3296455"/>
                  </a:lnTo>
                  <a:lnTo>
                    <a:pt x="1578639" y="3296455"/>
                  </a:lnTo>
                  <a:lnTo>
                    <a:pt x="1574362" y="3209523"/>
                  </a:lnTo>
                  <a:cubicBezTo>
                    <a:pt x="1494472" y="2402033"/>
                    <a:pt x="869073" y="1760080"/>
                    <a:pt x="82409" y="1678075"/>
                  </a:cubicBezTo>
                  <a:lnTo>
                    <a:pt x="0" y="1673803"/>
                  </a:lnTo>
                  <a:close/>
                </a:path>
              </a:pathLst>
            </a:cu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
        <p:nvSpPr>
          <p:cNvPr id="2" name="TextBox 1">
            <a:extLst>
              <a:ext uri="{FF2B5EF4-FFF2-40B4-BE49-F238E27FC236}">
                <a16:creationId xmlns:a16="http://schemas.microsoft.com/office/drawing/2014/main" id="{89366DF9-7617-6FB0-A758-3051BB6EA6C3}"/>
              </a:ext>
            </a:extLst>
          </p:cNvPr>
          <p:cNvSpPr txBox="1"/>
          <p:nvPr/>
        </p:nvSpPr>
        <p:spPr>
          <a:xfrm>
            <a:off x="6752492" y="2505670"/>
            <a:ext cx="3446583" cy="1200329"/>
          </a:xfrm>
          <a:prstGeom prst="rect">
            <a:avLst/>
          </a:prstGeom>
          <a:noFill/>
        </p:spPr>
        <p:txBody>
          <a:bodyPr wrap="square" rtlCol="0">
            <a:spAutoFit/>
          </a:bodyPr>
          <a:lstStyle/>
          <a:p>
            <a:pPr algn="ctr"/>
            <a:r>
              <a:rPr lang="en-US" sz="2400" dirty="0">
                <a:solidFill>
                  <a:schemeClr val="bg1"/>
                </a:solidFill>
                <a:latin typeface="Arial Narrow" panose="020B0606020202030204" pitchFamily="34" charset="0"/>
              </a:rPr>
              <a:t>Cut unnecessary expenses in logistics and storage while sustaining service quality.</a:t>
            </a:r>
            <a:endParaRPr lang="en-IN" sz="2400" dirty="0">
              <a:solidFill>
                <a:schemeClr val="bg1"/>
              </a:solidFill>
              <a:latin typeface="Arial Narrow" panose="020B0606020202030204" pitchFamily="34" charset="0"/>
            </a:endParaRPr>
          </a:p>
        </p:txBody>
      </p:sp>
      <p:sp>
        <p:nvSpPr>
          <p:cNvPr id="3" name="TextBox 2">
            <a:extLst>
              <a:ext uri="{FF2B5EF4-FFF2-40B4-BE49-F238E27FC236}">
                <a16:creationId xmlns:a16="http://schemas.microsoft.com/office/drawing/2014/main" id="{76B34908-1BA5-8BC7-ECD6-3EFB5E351DC4}"/>
              </a:ext>
            </a:extLst>
          </p:cNvPr>
          <p:cNvSpPr txBox="1"/>
          <p:nvPr/>
        </p:nvSpPr>
        <p:spPr>
          <a:xfrm>
            <a:off x="605607" y="4881099"/>
            <a:ext cx="2248126" cy="1292662"/>
          </a:xfrm>
          <a:prstGeom prst="rect">
            <a:avLst/>
          </a:prstGeom>
          <a:noFill/>
        </p:spPr>
        <p:txBody>
          <a:bodyPr wrap="square" rtlCol="0">
            <a:spAutoFit/>
          </a:bodyPr>
          <a:lstStyle/>
          <a:p>
            <a:r>
              <a:rPr lang="en-US" sz="2000" b="1" dirty="0">
                <a:solidFill>
                  <a:schemeClr val="bg1"/>
                </a:solidFill>
                <a:latin typeface="Arial Black" panose="020B0A04020102020204" pitchFamily="34" charset="0"/>
              </a:rPr>
              <a:t>REDUCE OPERATIONAL COSTS</a:t>
            </a:r>
          </a:p>
          <a:p>
            <a:endParaRPr lang="en-IN" dirty="0"/>
          </a:p>
        </p:txBody>
      </p:sp>
    </p:spTree>
    <p:extLst>
      <p:ext uri="{BB962C8B-B14F-4D97-AF65-F5344CB8AC3E}">
        <p14:creationId xmlns:p14="http://schemas.microsoft.com/office/powerpoint/2010/main" val="3923587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E73FA1-6D9C-CE20-CEED-CFCA13EDCFFC}"/>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5C46E71C-4425-1F8E-A8E5-0CE8D5E34EE6}"/>
              </a:ext>
            </a:extLst>
          </p:cNvPr>
          <p:cNvGrpSpPr/>
          <p:nvPr/>
        </p:nvGrpSpPr>
        <p:grpSpPr>
          <a:xfrm rot="10800000">
            <a:off x="-3871965" y="1195754"/>
            <a:ext cx="9599525" cy="9705068"/>
            <a:chOff x="2499660" y="245556"/>
            <a:chExt cx="6769891" cy="6681520"/>
          </a:xfrm>
          <a:solidFill>
            <a:schemeClr val="tx1">
              <a:lumMod val="95000"/>
              <a:lumOff val="5000"/>
            </a:schemeClr>
          </a:solidFill>
        </p:grpSpPr>
        <p:sp>
          <p:nvSpPr>
            <p:cNvPr id="17" name="Freeform: Shape 16">
              <a:extLst>
                <a:ext uri="{FF2B5EF4-FFF2-40B4-BE49-F238E27FC236}">
                  <a16:creationId xmlns:a16="http://schemas.microsoft.com/office/drawing/2014/main" id="{61554DFB-A25A-BC67-7E65-7B74A36068C4}"/>
                </a:ext>
              </a:extLst>
            </p:cNvPr>
            <p:cNvSpPr/>
            <p:nvPr/>
          </p:nvSpPr>
          <p:spPr>
            <a:xfrm rot="5400000">
              <a:off x="2521753" y="223463"/>
              <a:ext cx="3252270" cy="3296456"/>
            </a:xfrm>
            <a:custGeom>
              <a:avLst/>
              <a:gdLst>
                <a:gd name="connsiteX0" fmla="*/ 0 w 3252270"/>
                <a:gd name="connsiteY0" fmla="*/ 0 h 3296456"/>
                <a:gd name="connsiteX1" fmla="*/ 1673629 w 3252270"/>
                <a:gd name="connsiteY1" fmla="*/ 0 h 3296456"/>
                <a:gd name="connsiteX2" fmla="*/ 1677905 w 3252270"/>
                <a:gd name="connsiteY2" fmla="*/ 86933 h 3296456"/>
                <a:gd name="connsiteX3" fmla="*/ 3169859 w 3252270"/>
                <a:gd name="connsiteY3" fmla="*/ 1618381 h 3296456"/>
                <a:gd name="connsiteX4" fmla="*/ 3252270 w 3252270"/>
                <a:gd name="connsiteY4" fmla="*/ 1622652 h 3296456"/>
                <a:gd name="connsiteX5" fmla="*/ 3252269 w 3252270"/>
                <a:gd name="connsiteY5" fmla="*/ 3296456 h 3296456"/>
                <a:gd name="connsiteX6" fmla="*/ 3168730 w 3252270"/>
                <a:gd name="connsiteY6" fmla="*/ 3294316 h 3296456"/>
                <a:gd name="connsiteX7" fmla="*/ 2141 w 3252270"/>
                <a:gd name="connsiteY7" fmla="*/ 85816 h 3296456"/>
                <a:gd name="connsiteX8" fmla="*/ 0 w 3252270"/>
                <a:gd name="connsiteY8" fmla="*/ 0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6">
                  <a:moveTo>
                    <a:pt x="0" y="0"/>
                  </a:moveTo>
                  <a:lnTo>
                    <a:pt x="1673629" y="0"/>
                  </a:lnTo>
                  <a:lnTo>
                    <a:pt x="1677905" y="86933"/>
                  </a:lnTo>
                  <a:cubicBezTo>
                    <a:pt x="1757795" y="894422"/>
                    <a:pt x="2383194" y="1536376"/>
                    <a:pt x="3169859" y="1618381"/>
                  </a:cubicBezTo>
                  <a:lnTo>
                    <a:pt x="3252270" y="1622652"/>
                  </a:lnTo>
                  <a:lnTo>
                    <a:pt x="3252269" y="3296456"/>
                  </a:lnTo>
                  <a:lnTo>
                    <a:pt x="3168730" y="3294316"/>
                  </a:lnTo>
                  <a:cubicBezTo>
                    <a:pt x="1459386" y="3206521"/>
                    <a:pt x="88788" y="1817784"/>
                    <a:pt x="2141" y="85816"/>
                  </a:cubicBez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6" name="Freeform: Shape 15">
              <a:extLst>
                <a:ext uri="{FF2B5EF4-FFF2-40B4-BE49-F238E27FC236}">
                  <a16:creationId xmlns:a16="http://schemas.microsoft.com/office/drawing/2014/main" id="{B4CC72B2-D214-DC8F-7C01-EFBD22A98E5F}"/>
                </a:ext>
              </a:extLst>
            </p:cNvPr>
            <p:cNvSpPr/>
            <p:nvPr/>
          </p:nvSpPr>
          <p:spPr>
            <a:xfrm rot="5400000">
              <a:off x="5995188" y="223464"/>
              <a:ext cx="3252269" cy="3296456"/>
            </a:xfrm>
            <a:custGeom>
              <a:avLst/>
              <a:gdLst>
                <a:gd name="connsiteX0" fmla="*/ 0 w 3252270"/>
                <a:gd name="connsiteY0" fmla="*/ 3296455 h 3296455"/>
                <a:gd name="connsiteX1" fmla="*/ 2141 w 3252270"/>
                <a:gd name="connsiteY1" fmla="*/ 3210640 h 3296455"/>
                <a:gd name="connsiteX2" fmla="*/ 3168730 w 3252270"/>
                <a:gd name="connsiteY2" fmla="*/ 2140 h 3296455"/>
                <a:gd name="connsiteX3" fmla="*/ 3252270 w 3252270"/>
                <a:gd name="connsiteY3" fmla="*/ 0 h 3296455"/>
                <a:gd name="connsiteX4" fmla="*/ 3252270 w 3252270"/>
                <a:gd name="connsiteY4" fmla="*/ 1673803 h 3296455"/>
                <a:gd name="connsiteX5" fmla="*/ 3169859 w 3252270"/>
                <a:gd name="connsiteY5" fmla="*/ 1678075 h 3296455"/>
                <a:gd name="connsiteX6" fmla="*/ 1677905 w 3252270"/>
                <a:gd name="connsiteY6" fmla="*/ 3209523 h 3296455"/>
                <a:gd name="connsiteX7" fmla="*/ 1673629 w 3252270"/>
                <a:gd name="connsiteY7" fmla="*/ 3296455 h 3296455"/>
                <a:gd name="connsiteX8" fmla="*/ 0 w 3252270"/>
                <a:gd name="connsiteY8" fmla="*/ 3296455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5">
                  <a:moveTo>
                    <a:pt x="0" y="3296455"/>
                  </a:moveTo>
                  <a:lnTo>
                    <a:pt x="2141" y="3210640"/>
                  </a:lnTo>
                  <a:cubicBezTo>
                    <a:pt x="88788" y="1478671"/>
                    <a:pt x="1459386" y="89934"/>
                    <a:pt x="3168730" y="2140"/>
                  </a:cubicBezTo>
                  <a:lnTo>
                    <a:pt x="3252270" y="0"/>
                  </a:lnTo>
                  <a:lnTo>
                    <a:pt x="3252270" y="1673803"/>
                  </a:lnTo>
                  <a:lnTo>
                    <a:pt x="3169859" y="1678075"/>
                  </a:lnTo>
                  <a:cubicBezTo>
                    <a:pt x="2383194" y="1760080"/>
                    <a:pt x="1757795" y="2402033"/>
                    <a:pt x="1677905" y="3209523"/>
                  </a:cubicBezTo>
                  <a:lnTo>
                    <a:pt x="1673629" y="3296455"/>
                  </a:lnTo>
                  <a:lnTo>
                    <a:pt x="0" y="3296455"/>
                  </a:lnTo>
                  <a:close/>
                </a:path>
              </a:pathLst>
            </a:cu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40D012BF-8868-5439-DB71-79F55B3545DA}"/>
                </a:ext>
              </a:extLst>
            </p:cNvPr>
            <p:cNvSpPr/>
            <p:nvPr/>
          </p:nvSpPr>
          <p:spPr>
            <a:xfrm rot="5400000">
              <a:off x="2521754" y="3652713"/>
              <a:ext cx="3252269" cy="3296456"/>
            </a:xfrm>
            <a:custGeom>
              <a:avLst/>
              <a:gdLst>
                <a:gd name="connsiteX0" fmla="*/ 0 w 3252269"/>
                <a:gd name="connsiteY0" fmla="*/ 3296456 h 3296456"/>
                <a:gd name="connsiteX1" fmla="*/ 1 w 3252269"/>
                <a:gd name="connsiteY1" fmla="*/ 1622652 h 3296456"/>
                <a:gd name="connsiteX2" fmla="*/ 82410 w 3252269"/>
                <a:gd name="connsiteY2" fmla="*/ 1618381 h 3296456"/>
                <a:gd name="connsiteX3" fmla="*/ 1574363 w 3252269"/>
                <a:gd name="connsiteY3" fmla="*/ 86933 h 3296456"/>
                <a:gd name="connsiteX4" fmla="*/ 1578640 w 3252269"/>
                <a:gd name="connsiteY4" fmla="*/ 0 h 3296456"/>
                <a:gd name="connsiteX5" fmla="*/ 3252269 w 3252269"/>
                <a:gd name="connsiteY5" fmla="*/ 0 h 3296456"/>
                <a:gd name="connsiteX6" fmla="*/ 3250127 w 3252269"/>
                <a:gd name="connsiteY6" fmla="*/ 85816 h 3296456"/>
                <a:gd name="connsiteX7" fmla="*/ 83538 w 3252269"/>
                <a:gd name="connsiteY7" fmla="*/ 3294316 h 3296456"/>
                <a:gd name="connsiteX8" fmla="*/ 0 w 3252269"/>
                <a:gd name="connsiteY8" fmla="*/ 3296456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9" h="3296456">
                  <a:moveTo>
                    <a:pt x="0" y="3296456"/>
                  </a:moveTo>
                  <a:lnTo>
                    <a:pt x="1" y="1622652"/>
                  </a:lnTo>
                  <a:lnTo>
                    <a:pt x="82410" y="1618381"/>
                  </a:lnTo>
                  <a:cubicBezTo>
                    <a:pt x="869074" y="1536376"/>
                    <a:pt x="1494473" y="894422"/>
                    <a:pt x="1574363" y="86933"/>
                  </a:cubicBezTo>
                  <a:lnTo>
                    <a:pt x="1578640" y="0"/>
                  </a:lnTo>
                  <a:lnTo>
                    <a:pt x="3252269" y="0"/>
                  </a:lnTo>
                  <a:lnTo>
                    <a:pt x="3250127" y="85816"/>
                  </a:lnTo>
                  <a:cubicBezTo>
                    <a:pt x="3163480" y="1817784"/>
                    <a:pt x="1792883" y="3206521"/>
                    <a:pt x="83538" y="3294316"/>
                  </a:cubicBezTo>
                  <a:lnTo>
                    <a:pt x="0" y="3296456"/>
                  </a:lnTo>
                  <a:close/>
                </a:path>
              </a:pathLst>
            </a:custGeom>
            <a:blipFill dpi="0" rotWithShape="0">
              <a:blip r:embed="rId2"/>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Freeform: Shape 7">
              <a:extLst>
                <a:ext uri="{FF2B5EF4-FFF2-40B4-BE49-F238E27FC236}">
                  <a16:creationId xmlns:a16="http://schemas.microsoft.com/office/drawing/2014/main" id="{E6CB8423-2616-775A-5694-B311A81BB98E}"/>
                </a:ext>
              </a:extLst>
            </p:cNvPr>
            <p:cNvSpPr/>
            <p:nvPr/>
          </p:nvSpPr>
          <p:spPr>
            <a:xfrm rot="5400000">
              <a:off x="5995190" y="3652714"/>
              <a:ext cx="3252268" cy="3296455"/>
            </a:xfrm>
            <a:custGeom>
              <a:avLst/>
              <a:gdLst>
                <a:gd name="connsiteX0" fmla="*/ 0 w 3252268"/>
                <a:gd name="connsiteY0" fmla="*/ 1673803 h 3296455"/>
                <a:gd name="connsiteX1" fmla="*/ 0 w 3252268"/>
                <a:gd name="connsiteY1" fmla="*/ 0 h 3296455"/>
                <a:gd name="connsiteX2" fmla="*/ 83538 w 3252268"/>
                <a:gd name="connsiteY2" fmla="*/ 2140 h 3296455"/>
                <a:gd name="connsiteX3" fmla="*/ 3250126 w 3252268"/>
                <a:gd name="connsiteY3" fmla="*/ 3210640 h 3296455"/>
                <a:gd name="connsiteX4" fmla="*/ 3252268 w 3252268"/>
                <a:gd name="connsiteY4" fmla="*/ 3296455 h 3296455"/>
                <a:gd name="connsiteX5" fmla="*/ 1578639 w 3252268"/>
                <a:gd name="connsiteY5" fmla="*/ 3296455 h 3296455"/>
                <a:gd name="connsiteX6" fmla="*/ 1574362 w 3252268"/>
                <a:gd name="connsiteY6" fmla="*/ 3209523 h 3296455"/>
                <a:gd name="connsiteX7" fmla="*/ 82409 w 3252268"/>
                <a:gd name="connsiteY7" fmla="*/ 1678075 h 3296455"/>
                <a:gd name="connsiteX8" fmla="*/ 0 w 3252268"/>
                <a:gd name="connsiteY8" fmla="*/ 1673803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8" h="3296455">
                  <a:moveTo>
                    <a:pt x="0" y="1673803"/>
                  </a:moveTo>
                  <a:lnTo>
                    <a:pt x="0" y="0"/>
                  </a:lnTo>
                  <a:lnTo>
                    <a:pt x="83538" y="2140"/>
                  </a:lnTo>
                  <a:cubicBezTo>
                    <a:pt x="1792883" y="89934"/>
                    <a:pt x="3163480" y="1478671"/>
                    <a:pt x="3250126" y="3210640"/>
                  </a:cubicBezTo>
                  <a:lnTo>
                    <a:pt x="3252268" y="3296455"/>
                  </a:lnTo>
                  <a:lnTo>
                    <a:pt x="1578639" y="3296455"/>
                  </a:lnTo>
                  <a:lnTo>
                    <a:pt x="1574362" y="3209523"/>
                  </a:lnTo>
                  <a:cubicBezTo>
                    <a:pt x="1494472" y="2402033"/>
                    <a:pt x="869073" y="1760080"/>
                    <a:pt x="82409" y="1678075"/>
                  </a:cubicBezTo>
                  <a:lnTo>
                    <a:pt x="0" y="1673803"/>
                  </a:lnTo>
                  <a:close/>
                </a:path>
              </a:pathLst>
            </a:cu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
        <p:nvSpPr>
          <p:cNvPr id="2" name="TextBox 1">
            <a:extLst>
              <a:ext uri="{FF2B5EF4-FFF2-40B4-BE49-F238E27FC236}">
                <a16:creationId xmlns:a16="http://schemas.microsoft.com/office/drawing/2014/main" id="{70E3CED1-99C5-6F5A-24BC-337835313632}"/>
              </a:ext>
            </a:extLst>
          </p:cNvPr>
          <p:cNvSpPr txBox="1"/>
          <p:nvPr/>
        </p:nvSpPr>
        <p:spPr>
          <a:xfrm>
            <a:off x="6752492" y="2505670"/>
            <a:ext cx="3446583" cy="1200329"/>
          </a:xfrm>
          <a:prstGeom prst="rect">
            <a:avLst/>
          </a:prstGeom>
          <a:noFill/>
        </p:spPr>
        <p:txBody>
          <a:bodyPr wrap="square" rtlCol="0">
            <a:spAutoFit/>
          </a:bodyPr>
          <a:lstStyle/>
          <a:p>
            <a:pPr algn="ctr"/>
            <a:r>
              <a:rPr lang="en-US" sz="2400" dirty="0">
                <a:solidFill>
                  <a:schemeClr val="bg1"/>
                </a:solidFill>
                <a:latin typeface="Arial Narrow" panose="020B0606020202030204" pitchFamily="34" charset="0"/>
              </a:rPr>
              <a:t>Deliver quality products on time to strengthen trust and loyalty.</a:t>
            </a:r>
            <a:endParaRPr lang="en-IN" sz="2400" dirty="0">
              <a:solidFill>
                <a:schemeClr val="bg1"/>
              </a:solidFill>
              <a:latin typeface="Arial Narrow" panose="020B0606020202030204" pitchFamily="34" charset="0"/>
            </a:endParaRPr>
          </a:p>
        </p:txBody>
      </p:sp>
      <p:sp>
        <p:nvSpPr>
          <p:cNvPr id="3" name="TextBox 2">
            <a:extLst>
              <a:ext uri="{FF2B5EF4-FFF2-40B4-BE49-F238E27FC236}">
                <a16:creationId xmlns:a16="http://schemas.microsoft.com/office/drawing/2014/main" id="{3A60A7DD-0AFC-91BD-2FC9-C16FEE3CEEDA}"/>
              </a:ext>
            </a:extLst>
          </p:cNvPr>
          <p:cNvSpPr txBox="1"/>
          <p:nvPr/>
        </p:nvSpPr>
        <p:spPr>
          <a:xfrm>
            <a:off x="605607" y="4881099"/>
            <a:ext cx="2348608" cy="1015663"/>
          </a:xfrm>
          <a:prstGeom prst="rect">
            <a:avLst/>
          </a:prstGeom>
          <a:noFill/>
        </p:spPr>
        <p:txBody>
          <a:bodyPr wrap="square" rtlCol="0">
            <a:spAutoFit/>
          </a:bodyPr>
          <a:lstStyle/>
          <a:p>
            <a:r>
              <a:rPr lang="en-US" sz="2000" b="1" dirty="0">
                <a:solidFill>
                  <a:schemeClr val="bg1"/>
                </a:solidFill>
                <a:latin typeface="Arial Black" panose="020B0A04020102020204" pitchFamily="34" charset="0"/>
              </a:rPr>
              <a:t>ENHANCE CUSTOMER SATISFACTION</a:t>
            </a:r>
            <a:endParaRPr lang="en-IN" dirty="0"/>
          </a:p>
        </p:txBody>
      </p:sp>
    </p:spTree>
    <p:extLst>
      <p:ext uri="{BB962C8B-B14F-4D97-AF65-F5344CB8AC3E}">
        <p14:creationId xmlns:p14="http://schemas.microsoft.com/office/powerpoint/2010/main" val="1785030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21CF262-832F-2B4A-014F-DAAA16AA194E}"/>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8FBFD6D0-1431-A790-E4FB-ECDC5E9A20FC}"/>
              </a:ext>
            </a:extLst>
          </p:cNvPr>
          <p:cNvGrpSpPr/>
          <p:nvPr/>
        </p:nvGrpSpPr>
        <p:grpSpPr>
          <a:xfrm rot="5400000">
            <a:off x="-3871965" y="1195754"/>
            <a:ext cx="9599525" cy="9705068"/>
            <a:chOff x="2499660" y="245556"/>
            <a:chExt cx="6769891" cy="6681520"/>
          </a:xfrm>
          <a:solidFill>
            <a:schemeClr val="tx1">
              <a:lumMod val="95000"/>
              <a:lumOff val="5000"/>
            </a:schemeClr>
          </a:solidFill>
        </p:grpSpPr>
        <p:sp>
          <p:nvSpPr>
            <p:cNvPr id="17" name="Freeform: Shape 16">
              <a:extLst>
                <a:ext uri="{FF2B5EF4-FFF2-40B4-BE49-F238E27FC236}">
                  <a16:creationId xmlns:a16="http://schemas.microsoft.com/office/drawing/2014/main" id="{0048A32C-B224-DC92-2AA3-AD5CE5017EDB}"/>
                </a:ext>
              </a:extLst>
            </p:cNvPr>
            <p:cNvSpPr/>
            <p:nvPr/>
          </p:nvSpPr>
          <p:spPr>
            <a:xfrm rot="5400000">
              <a:off x="2521753" y="223463"/>
              <a:ext cx="3252270" cy="3296456"/>
            </a:xfrm>
            <a:custGeom>
              <a:avLst/>
              <a:gdLst>
                <a:gd name="connsiteX0" fmla="*/ 0 w 3252270"/>
                <a:gd name="connsiteY0" fmla="*/ 0 h 3296456"/>
                <a:gd name="connsiteX1" fmla="*/ 1673629 w 3252270"/>
                <a:gd name="connsiteY1" fmla="*/ 0 h 3296456"/>
                <a:gd name="connsiteX2" fmla="*/ 1677905 w 3252270"/>
                <a:gd name="connsiteY2" fmla="*/ 86933 h 3296456"/>
                <a:gd name="connsiteX3" fmla="*/ 3169859 w 3252270"/>
                <a:gd name="connsiteY3" fmla="*/ 1618381 h 3296456"/>
                <a:gd name="connsiteX4" fmla="*/ 3252270 w 3252270"/>
                <a:gd name="connsiteY4" fmla="*/ 1622652 h 3296456"/>
                <a:gd name="connsiteX5" fmla="*/ 3252269 w 3252270"/>
                <a:gd name="connsiteY5" fmla="*/ 3296456 h 3296456"/>
                <a:gd name="connsiteX6" fmla="*/ 3168730 w 3252270"/>
                <a:gd name="connsiteY6" fmla="*/ 3294316 h 3296456"/>
                <a:gd name="connsiteX7" fmla="*/ 2141 w 3252270"/>
                <a:gd name="connsiteY7" fmla="*/ 85816 h 3296456"/>
                <a:gd name="connsiteX8" fmla="*/ 0 w 3252270"/>
                <a:gd name="connsiteY8" fmla="*/ 0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6">
                  <a:moveTo>
                    <a:pt x="0" y="0"/>
                  </a:moveTo>
                  <a:lnTo>
                    <a:pt x="1673629" y="0"/>
                  </a:lnTo>
                  <a:lnTo>
                    <a:pt x="1677905" y="86933"/>
                  </a:lnTo>
                  <a:cubicBezTo>
                    <a:pt x="1757795" y="894422"/>
                    <a:pt x="2383194" y="1536376"/>
                    <a:pt x="3169859" y="1618381"/>
                  </a:cubicBezTo>
                  <a:lnTo>
                    <a:pt x="3252270" y="1622652"/>
                  </a:lnTo>
                  <a:lnTo>
                    <a:pt x="3252269" y="3296456"/>
                  </a:lnTo>
                  <a:lnTo>
                    <a:pt x="3168730" y="3294316"/>
                  </a:lnTo>
                  <a:cubicBezTo>
                    <a:pt x="1459386" y="3206521"/>
                    <a:pt x="88788" y="1817784"/>
                    <a:pt x="2141" y="85816"/>
                  </a:cubicBezTo>
                  <a:lnTo>
                    <a:pt x="0" y="0"/>
                  </a:lnTo>
                  <a:close/>
                </a:path>
              </a:pathLst>
            </a:custGeom>
            <a:blipFill dpi="0" rotWithShape="0">
              <a:blip r:embed="rId2"/>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6" name="Freeform: Shape 15">
              <a:extLst>
                <a:ext uri="{FF2B5EF4-FFF2-40B4-BE49-F238E27FC236}">
                  <a16:creationId xmlns:a16="http://schemas.microsoft.com/office/drawing/2014/main" id="{1D709E10-B1FF-0C55-EE55-F1A670A69034}"/>
                </a:ext>
              </a:extLst>
            </p:cNvPr>
            <p:cNvSpPr/>
            <p:nvPr/>
          </p:nvSpPr>
          <p:spPr>
            <a:xfrm rot="5400000">
              <a:off x="5995188" y="223464"/>
              <a:ext cx="3252269" cy="3296456"/>
            </a:xfrm>
            <a:custGeom>
              <a:avLst/>
              <a:gdLst>
                <a:gd name="connsiteX0" fmla="*/ 0 w 3252270"/>
                <a:gd name="connsiteY0" fmla="*/ 3296455 h 3296455"/>
                <a:gd name="connsiteX1" fmla="*/ 2141 w 3252270"/>
                <a:gd name="connsiteY1" fmla="*/ 3210640 h 3296455"/>
                <a:gd name="connsiteX2" fmla="*/ 3168730 w 3252270"/>
                <a:gd name="connsiteY2" fmla="*/ 2140 h 3296455"/>
                <a:gd name="connsiteX3" fmla="*/ 3252270 w 3252270"/>
                <a:gd name="connsiteY3" fmla="*/ 0 h 3296455"/>
                <a:gd name="connsiteX4" fmla="*/ 3252270 w 3252270"/>
                <a:gd name="connsiteY4" fmla="*/ 1673803 h 3296455"/>
                <a:gd name="connsiteX5" fmla="*/ 3169859 w 3252270"/>
                <a:gd name="connsiteY5" fmla="*/ 1678075 h 3296455"/>
                <a:gd name="connsiteX6" fmla="*/ 1677905 w 3252270"/>
                <a:gd name="connsiteY6" fmla="*/ 3209523 h 3296455"/>
                <a:gd name="connsiteX7" fmla="*/ 1673629 w 3252270"/>
                <a:gd name="connsiteY7" fmla="*/ 3296455 h 3296455"/>
                <a:gd name="connsiteX8" fmla="*/ 0 w 3252270"/>
                <a:gd name="connsiteY8" fmla="*/ 3296455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70" h="3296455">
                  <a:moveTo>
                    <a:pt x="0" y="3296455"/>
                  </a:moveTo>
                  <a:lnTo>
                    <a:pt x="2141" y="3210640"/>
                  </a:lnTo>
                  <a:cubicBezTo>
                    <a:pt x="88788" y="1478671"/>
                    <a:pt x="1459386" y="89934"/>
                    <a:pt x="3168730" y="2140"/>
                  </a:cubicBezTo>
                  <a:lnTo>
                    <a:pt x="3252270" y="0"/>
                  </a:lnTo>
                  <a:lnTo>
                    <a:pt x="3252270" y="1673803"/>
                  </a:lnTo>
                  <a:lnTo>
                    <a:pt x="3169859" y="1678075"/>
                  </a:lnTo>
                  <a:cubicBezTo>
                    <a:pt x="2383194" y="1760080"/>
                    <a:pt x="1757795" y="2402033"/>
                    <a:pt x="1677905" y="3209523"/>
                  </a:cubicBezTo>
                  <a:lnTo>
                    <a:pt x="1673629" y="3296455"/>
                  </a:lnTo>
                  <a:lnTo>
                    <a:pt x="0" y="3296455"/>
                  </a:lnTo>
                  <a:close/>
                </a:path>
              </a:pathLst>
            </a:cu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0" name="Freeform: Shape 9">
              <a:extLst>
                <a:ext uri="{FF2B5EF4-FFF2-40B4-BE49-F238E27FC236}">
                  <a16:creationId xmlns:a16="http://schemas.microsoft.com/office/drawing/2014/main" id="{E7E450F7-E7A7-0F57-7ECA-C213912063D6}"/>
                </a:ext>
              </a:extLst>
            </p:cNvPr>
            <p:cNvSpPr/>
            <p:nvPr/>
          </p:nvSpPr>
          <p:spPr>
            <a:xfrm rot="5400000">
              <a:off x="2521754" y="3652713"/>
              <a:ext cx="3252269" cy="3296456"/>
            </a:xfrm>
            <a:custGeom>
              <a:avLst/>
              <a:gdLst>
                <a:gd name="connsiteX0" fmla="*/ 0 w 3252269"/>
                <a:gd name="connsiteY0" fmla="*/ 3296456 h 3296456"/>
                <a:gd name="connsiteX1" fmla="*/ 1 w 3252269"/>
                <a:gd name="connsiteY1" fmla="*/ 1622652 h 3296456"/>
                <a:gd name="connsiteX2" fmla="*/ 82410 w 3252269"/>
                <a:gd name="connsiteY2" fmla="*/ 1618381 h 3296456"/>
                <a:gd name="connsiteX3" fmla="*/ 1574363 w 3252269"/>
                <a:gd name="connsiteY3" fmla="*/ 86933 h 3296456"/>
                <a:gd name="connsiteX4" fmla="*/ 1578640 w 3252269"/>
                <a:gd name="connsiteY4" fmla="*/ 0 h 3296456"/>
                <a:gd name="connsiteX5" fmla="*/ 3252269 w 3252269"/>
                <a:gd name="connsiteY5" fmla="*/ 0 h 3296456"/>
                <a:gd name="connsiteX6" fmla="*/ 3250127 w 3252269"/>
                <a:gd name="connsiteY6" fmla="*/ 85816 h 3296456"/>
                <a:gd name="connsiteX7" fmla="*/ 83538 w 3252269"/>
                <a:gd name="connsiteY7" fmla="*/ 3294316 h 3296456"/>
                <a:gd name="connsiteX8" fmla="*/ 0 w 3252269"/>
                <a:gd name="connsiteY8" fmla="*/ 3296456 h 329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9" h="3296456">
                  <a:moveTo>
                    <a:pt x="0" y="3296456"/>
                  </a:moveTo>
                  <a:lnTo>
                    <a:pt x="1" y="1622652"/>
                  </a:lnTo>
                  <a:lnTo>
                    <a:pt x="82410" y="1618381"/>
                  </a:lnTo>
                  <a:cubicBezTo>
                    <a:pt x="869074" y="1536376"/>
                    <a:pt x="1494473" y="894422"/>
                    <a:pt x="1574363" y="86933"/>
                  </a:cubicBezTo>
                  <a:lnTo>
                    <a:pt x="1578640" y="0"/>
                  </a:lnTo>
                  <a:lnTo>
                    <a:pt x="3252269" y="0"/>
                  </a:lnTo>
                  <a:lnTo>
                    <a:pt x="3250127" y="85816"/>
                  </a:lnTo>
                  <a:cubicBezTo>
                    <a:pt x="3163480" y="1817784"/>
                    <a:pt x="1792883" y="3206521"/>
                    <a:pt x="83538" y="3294316"/>
                  </a:cubicBezTo>
                  <a:lnTo>
                    <a:pt x="0" y="3296456"/>
                  </a:lnTo>
                  <a:close/>
                </a:path>
              </a:pathLst>
            </a:cu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Freeform: Shape 7">
              <a:extLst>
                <a:ext uri="{FF2B5EF4-FFF2-40B4-BE49-F238E27FC236}">
                  <a16:creationId xmlns:a16="http://schemas.microsoft.com/office/drawing/2014/main" id="{CEC09496-B463-CBE5-B6F2-74C29694D380}"/>
                </a:ext>
              </a:extLst>
            </p:cNvPr>
            <p:cNvSpPr/>
            <p:nvPr/>
          </p:nvSpPr>
          <p:spPr>
            <a:xfrm rot="5400000">
              <a:off x="5995190" y="3652714"/>
              <a:ext cx="3252268" cy="3296455"/>
            </a:xfrm>
            <a:custGeom>
              <a:avLst/>
              <a:gdLst>
                <a:gd name="connsiteX0" fmla="*/ 0 w 3252268"/>
                <a:gd name="connsiteY0" fmla="*/ 1673803 h 3296455"/>
                <a:gd name="connsiteX1" fmla="*/ 0 w 3252268"/>
                <a:gd name="connsiteY1" fmla="*/ 0 h 3296455"/>
                <a:gd name="connsiteX2" fmla="*/ 83538 w 3252268"/>
                <a:gd name="connsiteY2" fmla="*/ 2140 h 3296455"/>
                <a:gd name="connsiteX3" fmla="*/ 3250126 w 3252268"/>
                <a:gd name="connsiteY3" fmla="*/ 3210640 h 3296455"/>
                <a:gd name="connsiteX4" fmla="*/ 3252268 w 3252268"/>
                <a:gd name="connsiteY4" fmla="*/ 3296455 h 3296455"/>
                <a:gd name="connsiteX5" fmla="*/ 1578639 w 3252268"/>
                <a:gd name="connsiteY5" fmla="*/ 3296455 h 3296455"/>
                <a:gd name="connsiteX6" fmla="*/ 1574362 w 3252268"/>
                <a:gd name="connsiteY6" fmla="*/ 3209523 h 3296455"/>
                <a:gd name="connsiteX7" fmla="*/ 82409 w 3252268"/>
                <a:gd name="connsiteY7" fmla="*/ 1678075 h 3296455"/>
                <a:gd name="connsiteX8" fmla="*/ 0 w 3252268"/>
                <a:gd name="connsiteY8" fmla="*/ 1673803 h 3296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2268" h="3296455">
                  <a:moveTo>
                    <a:pt x="0" y="1673803"/>
                  </a:moveTo>
                  <a:lnTo>
                    <a:pt x="0" y="0"/>
                  </a:lnTo>
                  <a:lnTo>
                    <a:pt x="83538" y="2140"/>
                  </a:lnTo>
                  <a:cubicBezTo>
                    <a:pt x="1792883" y="89934"/>
                    <a:pt x="3163480" y="1478671"/>
                    <a:pt x="3250126" y="3210640"/>
                  </a:cubicBezTo>
                  <a:lnTo>
                    <a:pt x="3252268" y="3296455"/>
                  </a:lnTo>
                  <a:lnTo>
                    <a:pt x="1578639" y="3296455"/>
                  </a:lnTo>
                  <a:lnTo>
                    <a:pt x="1574362" y="3209523"/>
                  </a:lnTo>
                  <a:cubicBezTo>
                    <a:pt x="1494472" y="2402033"/>
                    <a:pt x="869073" y="1760080"/>
                    <a:pt x="82409" y="1678075"/>
                  </a:cubicBezTo>
                  <a:lnTo>
                    <a:pt x="0" y="1673803"/>
                  </a:lnTo>
                  <a:close/>
                </a:path>
              </a:pathLst>
            </a:cu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
        <p:nvSpPr>
          <p:cNvPr id="2" name="TextBox 1">
            <a:extLst>
              <a:ext uri="{FF2B5EF4-FFF2-40B4-BE49-F238E27FC236}">
                <a16:creationId xmlns:a16="http://schemas.microsoft.com/office/drawing/2014/main" id="{D1D5E7EA-3B94-981C-AABE-C865BC43AE41}"/>
              </a:ext>
            </a:extLst>
          </p:cNvPr>
          <p:cNvSpPr txBox="1"/>
          <p:nvPr/>
        </p:nvSpPr>
        <p:spPr>
          <a:xfrm>
            <a:off x="6752492" y="2505670"/>
            <a:ext cx="3446583" cy="1569660"/>
          </a:xfrm>
          <a:prstGeom prst="rect">
            <a:avLst/>
          </a:prstGeom>
          <a:noFill/>
        </p:spPr>
        <p:txBody>
          <a:bodyPr wrap="square" rtlCol="0">
            <a:spAutoFit/>
          </a:bodyPr>
          <a:lstStyle/>
          <a:p>
            <a:pPr algn="ctr"/>
            <a:r>
              <a:rPr lang="en-US" sz="2400" dirty="0">
                <a:solidFill>
                  <a:schemeClr val="bg1"/>
                </a:solidFill>
                <a:latin typeface="Arial Narrow" panose="020B0606020202030204" pitchFamily="34" charset="0"/>
              </a:rPr>
              <a:t>Streamline processes across procurement, production, and distribution for faster operations.</a:t>
            </a:r>
            <a:endParaRPr lang="en-IN" sz="2400" dirty="0">
              <a:solidFill>
                <a:schemeClr val="bg1"/>
              </a:solidFill>
              <a:latin typeface="Arial Narrow" panose="020B0606020202030204" pitchFamily="34" charset="0"/>
            </a:endParaRPr>
          </a:p>
        </p:txBody>
      </p:sp>
      <p:sp>
        <p:nvSpPr>
          <p:cNvPr id="3" name="TextBox 2">
            <a:extLst>
              <a:ext uri="{FF2B5EF4-FFF2-40B4-BE49-F238E27FC236}">
                <a16:creationId xmlns:a16="http://schemas.microsoft.com/office/drawing/2014/main" id="{FBF7BAC0-DD3D-9182-D9A5-F9B21478D5F6}"/>
              </a:ext>
            </a:extLst>
          </p:cNvPr>
          <p:cNvSpPr txBox="1"/>
          <p:nvPr/>
        </p:nvSpPr>
        <p:spPr>
          <a:xfrm>
            <a:off x="605607" y="4881099"/>
            <a:ext cx="2348608" cy="707886"/>
          </a:xfrm>
          <a:prstGeom prst="rect">
            <a:avLst/>
          </a:prstGeom>
          <a:noFill/>
        </p:spPr>
        <p:txBody>
          <a:bodyPr wrap="square" rtlCol="0">
            <a:spAutoFit/>
          </a:bodyPr>
          <a:lstStyle/>
          <a:p>
            <a:r>
              <a:rPr lang="en-US" sz="2000" b="1" dirty="0">
                <a:solidFill>
                  <a:schemeClr val="bg1"/>
                </a:solidFill>
                <a:latin typeface="Arial Black" panose="020B0A04020102020204" pitchFamily="34" charset="0"/>
              </a:rPr>
              <a:t>IMPROVE</a:t>
            </a:r>
          </a:p>
          <a:p>
            <a:r>
              <a:rPr lang="en-US" sz="2000" b="1" dirty="0">
                <a:solidFill>
                  <a:schemeClr val="bg1"/>
                </a:solidFill>
                <a:latin typeface="Arial Black" panose="020B0A04020102020204" pitchFamily="34" charset="0"/>
              </a:rPr>
              <a:t>EFFICIENCY</a:t>
            </a:r>
            <a:endParaRPr lang="en-IN" dirty="0"/>
          </a:p>
        </p:txBody>
      </p:sp>
    </p:spTree>
    <p:extLst>
      <p:ext uri="{BB962C8B-B14F-4D97-AF65-F5344CB8AC3E}">
        <p14:creationId xmlns:p14="http://schemas.microsoft.com/office/powerpoint/2010/main" val="166649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hart&#10;&#10;AI-generated content may be incorrect.">
            <a:extLst>
              <a:ext uri="{FF2B5EF4-FFF2-40B4-BE49-F238E27FC236}">
                <a16:creationId xmlns:a16="http://schemas.microsoft.com/office/drawing/2014/main" id="{8B423128-A196-56AF-43E1-0FAAC1DCDF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280"/>
            <a:ext cx="12192000" cy="6939280"/>
          </a:xfrm>
          <a:prstGeom prst="rect">
            <a:avLst/>
          </a:prstGeom>
        </p:spPr>
      </p:pic>
    </p:spTree>
    <p:extLst>
      <p:ext uri="{BB962C8B-B14F-4D97-AF65-F5344CB8AC3E}">
        <p14:creationId xmlns:p14="http://schemas.microsoft.com/office/powerpoint/2010/main" val="3341193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F1EEB8-9CC1-3FA1-2F29-9402EAE74473}"/>
              </a:ext>
            </a:extLst>
          </p:cNvPr>
          <p:cNvSpPr txBox="1"/>
          <p:nvPr/>
        </p:nvSpPr>
        <p:spPr>
          <a:xfrm>
            <a:off x="1488441" y="926340"/>
            <a:ext cx="4114800" cy="769441"/>
          </a:xfrm>
          <a:prstGeom prst="rect">
            <a:avLst/>
          </a:prstGeom>
          <a:noFill/>
        </p:spPr>
        <p:txBody>
          <a:bodyPr wrap="square" rtlCol="0">
            <a:spAutoFit/>
          </a:bodyPr>
          <a:lstStyle/>
          <a:p>
            <a:r>
              <a:rPr lang="en-IN" sz="4400" dirty="0">
                <a:solidFill>
                  <a:schemeClr val="bg1"/>
                </a:solidFill>
                <a:latin typeface="Stencil" panose="040409050D0802020404" pitchFamily="82" charset="0"/>
              </a:rPr>
              <a:t>KEY FINDINGS</a:t>
            </a:r>
          </a:p>
        </p:txBody>
      </p:sp>
      <p:sp>
        <p:nvSpPr>
          <p:cNvPr id="3" name="TextBox 2">
            <a:extLst>
              <a:ext uri="{FF2B5EF4-FFF2-40B4-BE49-F238E27FC236}">
                <a16:creationId xmlns:a16="http://schemas.microsoft.com/office/drawing/2014/main" id="{62B4FBFB-9915-0504-D468-57A73276F8C7}"/>
              </a:ext>
            </a:extLst>
          </p:cNvPr>
          <p:cNvSpPr txBox="1"/>
          <p:nvPr/>
        </p:nvSpPr>
        <p:spPr>
          <a:xfrm>
            <a:off x="958559" y="1770082"/>
            <a:ext cx="5567680" cy="1446550"/>
          </a:xfrm>
          <a:prstGeom prst="rect">
            <a:avLst/>
          </a:prstGeom>
          <a:noFill/>
        </p:spPr>
        <p:txBody>
          <a:bodyPr wrap="square" rtlCol="0">
            <a:spAutoFit/>
          </a:bodyPr>
          <a:lstStyle/>
          <a:p>
            <a:r>
              <a:rPr lang="en-IN" sz="4400" dirty="0">
                <a:solidFill>
                  <a:schemeClr val="bg2">
                    <a:lumMod val="25000"/>
                  </a:schemeClr>
                </a:solidFill>
                <a:latin typeface="Stencil" panose="040409050D0802020404" pitchFamily="82" charset="0"/>
              </a:rPr>
              <a:t>STRATEGIC RECOMMENTATIONS</a:t>
            </a:r>
          </a:p>
        </p:txBody>
      </p:sp>
      <p:sp>
        <p:nvSpPr>
          <p:cNvPr id="6" name="Half Frame 5">
            <a:extLst>
              <a:ext uri="{FF2B5EF4-FFF2-40B4-BE49-F238E27FC236}">
                <a16:creationId xmlns:a16="http://schemas.microsoft.com/office/drawing/2014/main" id="{B18B6009-DA57-97E5-EBCD-D93A90605B04}"/>
              </a:ext>
            </a:extLst>
          </p:cNvPr>
          <p:cNvSpPr/>
          <p:nvPr/>
        </p:nvSpPr>
        <p:spPr>
          <a:xfrm rot="8427235">
            <a:off x="997082" y="1127985"/>
            <a:ext cx="360128" cy="366153"/>
          </a:xfrm>
          <a:prstGeom prst="halfFrame">
            <a:avLst>
              <a:gd name="adj1" fmla="val 33333"/>
              <a:gd name="adj2" fmla="val 30952"/>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grpSp>
        <p:nvGrpSpPr>
          <p:cNvPr id="12" name="Group 11">
            <a:extLst>
              <a:ext uri="{FF2B5EF4-FFF2-40B4-BE49-F238E27FC236}">
                <a16:creationId xmlns:a16="http://schemas.microsoft.com/office/drawing/2014/main" id="{84EAB40E-C49B-E64B-DF73-6044281D604E}"/>
              </a:ext>
            </a:extLst>
          </p:cNvPr>
          <p:cNvGrpSpPr/>
          <p:nvPr/>
        </p:nvGrpSpPr>
        <p:grpSpPr>
          <a:xfrm>
            <a:off x="8503920" y="-172720"/>
            <a:ext cx="3403600" cy="6410960"/>
            <a:chOff x="8503920" y="-172720"/>
            <a:chExt cx="3403600" cy="6410960"/>
          </a:xfrm>
        </p:grpSpPr>
        <p:sp>
          <p:nvSpPr>
            <p:cNvPr id="9" name="Rectangle: Rounded Corners 8">
              <a:extLst>
                <a:ext uri="{FF2B5EF4-FFF2-40B4-BE49-F238E27FC236}">
                  <a16:creationId xmlns:a16="http://schemas.microsoft.com/office/drawing/2014/main" id="{C5F50051-17CB-55DE-98B9-A455A05FEBEC}"/>
                </a:ext>
              </a:extLst>
            </p:cNvPr>
            <p:cNvSpPr/>
            <p:nvPr/>
          </p:nvSpPr>
          <p:spPr>
            <a:xfrm>
              <a:off x="8503920" y="1117600"/>
              <a:ext cx="3403600" cy="5120640"/>
            </a:xfrm>
            <a:prstGeom prst="roundRect">
              <a:avLst>
                <a:gd name="adj" fmla="val 50000"/>
              </a:avLst>
            </a:prstGeom>
            <a:ln>
              <a:noFill/>
            </a:ln>
            <a:effectLst>
              <a:outerShdw blurRad="50800" dist="38100" dir="2700000" algn="tl" rotWithShape="0">
                <a:schemeClr val="bg1">
                  <a:alpha val="40000"/>
                </a:schemeClr>
              </a:outerShdw>
            </a:effectLst>
          </p:spPr>
          <p:style>
            <a:lnRef idx="2">
              <a:schemeClr val="dk1"/>
            </a:lnRef>
            <a:fillRef idx="1">
              <a:schemeClr val="lt1"/>
            </a:fillRef>
            <a:effectRef idx="0">
              <a:schemeClr val="dk1"/>
            </a:effectRef>
            <a:fontRef idx="minor">
              <a:schemeClr val="dk1"/>
            </a:fontRef>
          </p:style>
          <p:txBody>
            <a:bodyPr rtlCol="0" anchor="ctr"/>
            <a:lstStyle/>
            <a:p>
              <a:pPr marL="285750" indent="-285750" algn="ctr">
                <a:buFont typeface="Arial" panose="020B0604020202020204" pitchFamily="34" charset="0"/>
                <a:buChar char="•"/>
              </a:pPr>
              <a:endParaRPr lang="en-IN"/>
            </a:p>
          </p:txBody>
        </p:sp>
        <p:sp>
          <p:nvSpPr>
            <p:cNvPr id="10" name="TextBox 9">
              <a:extLst>
                <a:ext uri="{FF2B5EF4-FFF2-40B4-BE49-F238E27FC236}">
                  <a16:creationId xmlns:a16="http://schemas.microsoft.com/office/drawing/2014/main" id="{DD2A5DC3-4C95-3046-CB5A-BEFF73747463}"/>
                </a:ext>
              </a:extLst>
            </p:cNvPr>
            <p:cNvSpPr txBox="1"/>
            <p:nvPr/>
          </p:nvSpPr>
          <p:spPr>
            <a:xfrm>
              <a:off x="8823960" y="1770082"/>
              <a:ext cx="2763520"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Narrow" panose="020B0606020202030204" pitchFamily="34" charset="0"/>
                </a:rPr>
                <a:t>Transportation and logistics decisions significantly impact efficiency and cost.</a:t>
              </a:r>
            </a:p>
            <a:p>
              <a:pPr marL="285750" indent="-285750">
                <a:buFont typeface="Arial" panose="020B0604020202020204" pitchFamily="34" charset="0"/>
                <a:buChar char="•"/>
              </a:pPr>
              <a:r>
                <a:rPr lang="en-US" dirty="0">
                  <a:latin typeface="Arial Narrow" panose="020B0606020202030204" pitchFamily="34" charset="0"/>
                </a:rPr>
                <a:t>Skincare, haircare, and cosmetics categories show varying levels of contribution to revenue and orders.</a:t>
              </a:r>
            </a:p>
            <a:p>
              <a:pPr marL="285750" indent="-285750">
                <a:buFont typeface="Arial" panose="020B0604020202020204" pitchFamily="34" charset="0"/>
                <a:buChar char="•"/>
              </a:pPr>
              <a:r>
                <a:rPr lang="en-US" dirty="0">
                  <a:latin typeface="Arial Narrow" panose="020B0606020202030204" pitchFamily="34" charset="0"/>
                </a:rPr>
                <a:t>Defect rates reveal areas where stronger quality control is required.</a:t>
              </a:r>
            </a:p>
            <a:p>
              <a:pPr marL="285750" indent="-285750">
                <a:buFont typeface="Arial" panose="020B0604020202020204" pitchFamily="34" charset="0"/>
                <a:buChar char="•"/>
              </a:pPr>
              <a:r>
                <a:rPr lang="en-US" dirty="0">
                  <a:latin typeface="Arial Narrow" panose="020B0606020202030204" pitchFamily="34" charset="0"/>
                </a:rPr>
                <a:t>Transportation delays increase overall delivery time and raise costs.</a:t>
              </a:r>
              <a:endParaRPr lang="en-IN" dirty="0">
                <a:latin typeface="Arial Narrow" panose="020B0606020202030204" pitchFamily="34" charset="0"/>
              </a:endParaRPr>
            </a:p>
          </p:txBody>
        </p:sp>
        <p:sp>
          <p:nvSpPr>
            <p:cNvPr id="11" name="Rectangle: Rounded Corners 10">
              <a:extLst>
                <a:ext uri="{FF2B5EF4-FFF2-40B4-BE49-F238E27FC236}">
                  <a16:creationId xmlns:a16="http://schemas.microsoft.com/office/drawing/2014/main" id="{712A27A3-8FB1-0EF0-6B53-84BBB371528D}"/>
                </a:ext>
              </a:extLst>
            </p:cNvPr>
            <p:cNvSpPr/>
            <p:nvPr/>
          </p:nvSpPr>
          <p:spPr>
            <a:xfrm>
              <a:off x="9926320" y="-172720"/>
              <a:ext cx="558800" cy="1739602"/>
            </a:xfrm>
            <a:prstGeom prst="roundRect">
              <a:avLst>
                <a:gd name="adj" fmla="val 50000"/>
              </a:avLst>
            </a:prstGeom>
            <a:solidFill>
              <a:schemeClr val="bg2">
                <a:lumMod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grpSp>
      <p:sp>
        <p:nvSpPr>
          <p:cNvPr id="13" name="Rectangle: Rounded Corners 12">
            <a:extLst>
              <a:ext uri="{FF2B5EF4-FFF2-40B4-BE49-F238E27FC236}">
                <a16:creationId xmlns:a16="http://schemas.microsoft.com/office/drawing/2014/main" id="{79C7ADE6-DECE-9DC3-FFDD-A3CB30D0AD84}"/>
              </a:ext>
            </a:extLst>
          </p:cNvPr>
          <p:cNvSpPr/>
          <p:nvPr/>
        </p:nvSpPr>
        <p:spPr>
          <a:xfrm>
            <a:off x="10007600" y="5740400"/>
            <a:ext cx="558800" cy="1739602"/>
          </a:xfrm>
          <a:prstGeom prst="roundRect">
            <a:avLst>
              <a:gd name="adj" fmla="val 50000"/>
            </a:avLst>
          </a:prstGeom>
          <a:solidFill>
            <a:schemeClr val="bg2">
              <a:lumMod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4" name="Picture 13" descr="A black and white image of various icons&#10;&#10;AI-generated content may be incorrect.">
            <a:extLst>
              <a:ext uri="{FF2B5EF4-FFF2-40B4-BE49-F238E27FC236}">
                <a16:creationId xmlns:a16="http://schemas.microsoft.com/office/drawing/2014/main" id="{660BDC27-AD4D-43A1-7408-3EF58CA6A3B2}"/>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71825" y="3576797"/>
            <a:ext cx="8083925" cy="4327205"/>
          </a:xfrm>
          <a:prstGeom prst="rect">
            <a:avLst/>
          </a:prstGeom>
        </p:spPr>
      </p:pic>
    </p:spTree>
    <p:extLst>
      <p:ext uri="{BB962C8B-B14F-4D97-AF65-F5344CB8AC3E}">
        <p14:creationId xmlns:p14="http://schemas.microsoft.com/office/powerpoint/2010/main" val="1571636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725F33A-44FD-789E-4828-620F32382026}"/>
            </a:ext>
          </a:extLst>
        </p:cNvPr>
        <p:cNvGrpSpPr/>
        <p:nvPr/>
      </p:nvGrpSpPr>
      <p:grpSpPr>
        <a:xfrm>
          <a:off x="0" y="0"/>
          <a:ext cx="0" cy="0"/>
          <a:chOff x="0" y="0"/>
          <a:chExt cx="0" cy="0"/>
        </a:xfrm>
      </p:grpSpPr>
      <p:pic>
        <p:nvPicPr>
          <p:cNvPr id="11" name="Picture 10" descr="A black and white image of various icons&#10;&#10;AI-generated content may be incorrect.">
            <a:extLst>
              <a:ext uri="{FF2B5EF4-FFF2-40B4-BE49-F238E27FC236}">
                <a16:creationId xmlns:a16="http://schemas.microsoft.com/office/drawing/2014/main" id="{B9E25E89-36F1-C91A-7486-395A1B18F1A6}"/>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98861" y="3576797"/>
            <a:ext cx="8125337" cy="4327205"/>
          </a:xfrm>
          <a:prstGeom prst="rect">
            <a:avLst/>
          </a:prstGeom>
        </p:spPr>
      </p:pic>
      <p:sp>
        <p:nvSpPr>
          <p:cNvPr id="2" name="TextBox 1">
            <a:extLst>
              <a:ext uri="{FF2B5EF4-FFF2-40B4-BE49-F238E27FC236}">
                <a16:creationId xmlns:a16="http://schemas.microsoft.com/office/drawing/2014/main" id="{ECF79A44-93CB-A046-E920-50F7FAC50849}"/>
              </a:ext>
            </a:extLst>
          </p:cNvPr>
          <p:cNvSpPr txBox="1"/>
          <p:nvPr/>
        </p:nvSpPr>
        <p:spPr>
          <a:xfrm>
            <a:off x="921731" y="445517"/>
            <a:ext cx="4114800" cy="769441"/>
          </a:xfrm>
          <a:prstGeom prst="rect">
            <a:avLst/>
          </a:prstGeom>
          <a:noFill/>
        </p:spPr>
        <p:txBody>
          <a:bodyPr wrap="square" rtlCol="0">
            <a:spAutoFit/>
          </a:bodyPr>
          <a:lstStyle/>
          <a:p>
            <a:r>
              <a:rPr lang="en-IN" sz="4400" dirty="0">
                <a:solidFill>
                  <a:schemeClr val="bg2">
                    <a:lumMod val="25000"/>
                  </a:schemeClr>
                </a:solidFill>
                <a:latin typeface="Stencil" panose="040409050D0802020404" pitchFamily="82" charset="0"/>
              </a:rPr>
              <a:t>KEY FINDINGS</a:t>
            </a:r>
          </a:p>
        </p:txBody>
      </p:sp>
      <p:sp>
        <p:nvSpPr>
          <p:cNvPr id="3" name="TextBox 2">
            <a:extLst>
              <a:ext uri="{FF2B5EF4-FFF2-40B4-BE49-F238E27FC236}">
                <a16:creationId xmlns:a16="http://schemas.microsoft.com/office/drawing/2014/main" id="{9850A41F-36B9-F392-1E7C-E444C3B217AD}"/>
              </a:ext>
            </a:extLst>
          </p:cNvPr>
          <p:cNvSpPr txBox="1"/>
          <p:nvPr/>
        </p:nvSpPr>
        <p:spPr>
          <a:xfrm>
            <a:off x="1202546" y="1148020"/>
            <a:ext cx="5567680" cy="1446550"/>
          </a:xfrm>
          <a:prstGeom prst="rect">
            <a:avLst/>
          </a:prstGeom>
          <a:noFill/>
        </p:spPr>
        <p:txBody>
          <a:bodyPr wrap="square" rtlCol="0">
            <a:spAutoFit/>
          </a:bodyPr>
          <a:lstStyle/>
          <a:p>
            <a:r>
              <a:rPr lang="en-IN" sz="4400" dirty="0">
                <a:solidFill>
                  <a:schemeClr val="bg1"/>
                </a:solidFill>
                <a:latin typeface="Stencil" panose="040409050D0802020404" pitchFamily="82" charset="0"/>
              </a:rPr>
              <a:t>STRATEGIC RECOMMENTATIONS</a:t>
            </a:r>
          </a:p>
        </p:txBody>
      </p:sp>
      <p:sp>
        <p:nvSpPr>
          <p:cNvPr id="6" name="Half Frame 5">
            <a:extLst>
              <a:ext uri="{FF2B5EF4-FFF2-40B4-BE49-F238E27FC236}">
                <a16:creationId xmlns:a16="http://schemas.microsoft.com/office/drawing/2014/main" id="{04E062A9-DCAF-E583-3EDF-B64C755D645C}"/>
              </a:ext>
            </a:extLst>
          </p:cNvPr>
          <p:cNvSpPr/>
          <p:nvPr/>
        </p:nvSpPr>
        <p:spPr>
          <a:xfrm rot="8427235">
            <a:off x="741667" y="1287701"/>
            <a:ext cx="360128" cy="366153"/>
          </a:xfrm>
          <a:prstGeom prst="halfFrame">
            <a:avLst>
              <a:gd name="adj1" fmla="val 33333"/>
              <a:gd name="adj2" fmla="val 30952"/>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solidFill>
                <a:schemeClr val="tx1"/>
              </a:solidFill>
            </a:endParaRPr>
          </a:p>
        </p:txBody>
      </p:sp>
      <p:grpSp>
        <p:nvGrpSpPr>
          <p:cNvPr id="5" name="Group 4">
            <a:extLst>
              <a:ext uri="{FF2B5EF4-FFF2-40B4-BE49-F238E27FC236}">
                <a16:creationId xmlns:a16="http://schemas.microsoft.com/office/drawing/2014/main" id="{4903AB08-A3DF-1A28-E21A-0232A96ACF5B}"/>
              </a:ext>
            </a:extLst>
          </p:cNvPr>
          <p:cNvGrpSpPr/>
          <p:nvPr/>
        </p:nvGrpSpPr>
        <p:grpSpPr>
          <a:xfrm>
            <a:off x="8503920" y="-172720"/>
            <a:ext cx="3403600" cy="6410960"/>
            <a:chOff x="8503920" y="-172720"/>
            <a:chExt cx="3403600" cy="6410960"/>
          </a:xfrm>
        </p:grpSpPr>
        <p:sp>
          <p:nvSpPr>
            <p:cNvPr id="9" name="Rectangle: Rounded Corners 8">
              <a:extLst>
                <a:ext uri="{FF2B5EF4-FFF2-40B4-BE49-F238E27FC236}">
                  <a16:creationId xmlns:a16="http://schemas.microsoft.com/office/drawing/2014/main" id="{B677B338-7CE7-48C2-30B3-99D804674743}"/>
                </a:ext>
              </a:extLst>
            </p:cNvPr>
            <p:cNvSpPr/>
            <p:nvPr/>
          </p:nvSpPr>
          <p:spPr>
            <a:xfrm>
              <a:off x="8503920" y="1117600"/>
              <a:ext cx="3403600" cy="5120640"/>
            </a:xfrm>
            <a:prstGeom prst="roundRect">
              <a:avLst>
                <a:gd name="adj" fmla="val 50000"/>
              </a:avLst>
            </a:prstGeom>
            <a:ln>
              <a:noFill/>
            </a:ln>
            <a:effectLst>
              <a:outerShdw blurRad="50800" dist="38100" dir="2700000" algn="tl" rotWithShape="0">
                <a:schemeClr val="bg1">
                  <a:alpha val="40000"/>
                </a:schemeClr>
              </a:outerShdw>
            </a:effectLst>
          </p:spPr>
          <p:style>
            <a:lnRef idx="2">
              <a:schemeClr val="dk1"/>
            </a:lnRef>
            <a:fillRef idx="1">
              <a:schemeClr val="lt1"/>
            </a:fillRef>
            <a:effectRef idx="0">
              <a:schemeClr val="dk1"/>
            </a:effectRef>
            <a:fontRef idx="minor">
              <a:schemeClr val="dk1"/>
            </a:fontRef>
          </p:style>
          <p:txBody>
            <a:bodyPr rtlCol="0" anchor="ctr"/>
            <a:lstStyle/>
            <a:p>
              <a:pPr marL="285750" indent="-285750" algn="ctr">
                <a:buFont typeface="Arial" panose="020B0604020202020204" pitchFamily="34" charset="0"/>
                <a:buChar char="•"/>
              </a:pPr>
              <a:endParaRPr lang="en-IN"/>
            </a:p>
          </p:txBody>
        </p:sp>
        <p:sp>
          <p:nvSpPr>
            <p:cNvPr id="10" name="TextBox 9">
              <a:extLst>
                <a:ext uri="{FF2B5EF4-FFF2-40B4-BE49-F238E27FC236}">
                  <a16:creationId xmlns:a16="http://schemas.microsoft.com/office/drawing/2014/main" id="{EF991656-EAC2-4E8F-E996-0D76CE43E984}"/>
                </a:ext>
              </a:extLst>
            </p:cNvPr>
            <p:cNvSpPr txBox="1"/>
            <p:nvPr/>
          </p:nvSpPr>
          <p:spPr>
            <a:xfrm>
              <a:off x="8712200" y="1770082"/>
              <a:ext cx="2987040"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Narrow" panose="020B0606020202030204" pitchFamily="34" charset="0"/>
                </a:rPr>
                <a:t>Prioritize cost-effective logistics and transportation modes.</a:t>
              </a:r>
            </a:p>
            <a:p>
              <a:pPr marL="285750" indent="-285750">
                <a:buFont typeface="Arial" panose="020B0604020202020204" pitchFamily="34" charset="0"/>
                <a:buChar char="•"/>
              </a:pPr>
              <a:r>
                <a:rPr lang="en-US" dirty="0">
                  <a:latin typeface="Arial Narrow" panose="020B0606020202030204" pitchFamily="34" charset="0"/>
                </a:rPr>
                <a:t>Strengthen quality assurance processes to reduce defect rates.</a:t>
              </a:r>
            </a:p>
            <a:p>
              <a:pPr marL="285750" indent="-285750">
                <a:buFont typeface="Arial" panose="020B0604020202020204" pitchFamily="34" charset="0"/>
                <a:buChar char="•"/>
              </a:pPr>
              <a:r>
                <a:rPr lang="en-US" dirty="0">
                  <a:latin typeface="Arial Narrow" panose="020B0606020202030204" pitchFamily="34" charset="0"/>
                </a:rPr>
                <a:t>Focus investment on high-performing product categories while addressing weaker ones.</a:t>
              </a:r>
            </a:p>
            <a:p>
              <a:pPr marL="285750" indent="-285750">
                <a:buFont typeface="Arial" panose="020B0604020202020204" pitchFamily="34" charset="0"/>
                <a:buChar char="•"/>
              </a:pPr>
              <a:r>
                <a:rPr lang="en-US" dirty="0">
                  <a:latin typeface="Arial Narrow" panose="020B0606020202030204" pitchFamily="34" charset="0"/>
                </a:rPr>
                <a:t>Implement real-time monitoring through dashboards to enable faster, data-driven decision-making.</a:t>
              </a:r>
              <a:endParaRPr lang="en-IN" dirty="0">
                <a:latin typeface="Arial Narrow" panose="020B0606020202030204" pitchFamily="34" charset="0"/>
              </a:endParaRPr>
            </a:p>
          </p:txBody>
        </p:sp>
        <p:sp>
          <p:nvSpPr>
            <p:cNvPr id="4" name="Rectangle: Rounded Corners 3">
              <a:extLst>
                <a:ext uri="{FF2B5EF4-FFF2-40B4-BE49-F238E27FC236}">
                  <a16:creationId xmlns:a16="http://schemas.microsoft.com/office/drawing/2014/main" id="{33AF1902-1920-0DDE-7D81-934FA97E0142}"/>
                </a:ext>
              </a:extLst>
            </p:cNvPr>
            <p:cNvSpPr/>
            <p:nvPr/>
          </p:nvSpPr>
          <p:spPr>
            <a:xfrm>
              <a:off x="9926320" y="-172720"/>
              <a:ext cx="558800" cy="1739602"/>
            </a:xfrm>
            <a:prstGeom prst="roundRect">
              <a:avLst>
                <a:gd name="adj" fmla="val 50000"/>
              </a:avLst>
            </a:prstGeom>
            <a:solidFill>
              <a:schemeClr val="bg2">
                <a:lumMod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grpSp>
      <p:sp>
        <p:nvSpPr>
          <p:cNvPr id="7" name="Rectangle: Rounded Corners 6">
            <a:extLst>
              <a:ext uri="{FF2B5EF4-FFF2-40B4-BE49-F238E27FC236}">
                <a16:creationId xmlns:a16="http://schemas.microsoft.com/office/drawing/2014/main" id="{B02FDA0D-B00C-24C9-8DF8-66D50722B85B}"/>
              </a:ext>
            </a:extLst>
          </p:cNvPr>
          <p:cNvSpPr/>
          <p:nvPr/>
        </p:nvSpPr>
        <p:spPr>
          <a:xfrm>
            <a:off x="9926320" y="5788958"/>
            <a:ext cx="558800" cy="1739602"/>
          </a:xfrm>
          <a:prstGeom prst="roundRect">
            <a:avLst>
              <a:gd name="adj" fmla="val 50000"/>
            </a:avLst>
          </a:prstGeom>
          <a:solidFill>
            <a:schemeClr val="bg2">
              <a:lumMod val="1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20790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chain with a white background&#10;&#10;AI-generated content may be incorrect.">
            <a:extLst>
              <a:ext uri="{FF2B5EF4-FFF2-40B4-BE49-F238E27FC236}">
                <a16:creationId xmlns:a16="http://schemas.microsoft.com/office/drawing/2014/main" id="{1455EF34-B8CD-8988-61C1-87A42DA3E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751035">
            <a:off x="3471576" y="804577"/>
            <a:ext cx="5248846" cy="5248846"/>
          </a:xfrm>
          <a:prstGeom prst="rect">
            <a:avLst/>
          </a:prstGeom>
        </p:spPr>
      </p:pic>
      <p:sp>
        <p:nvSpPr>
          <p:cNvPr id="4" name="TextBox 3">
            <a:extLst>
              <a:ext uri="{FF2B5EF4-FFF2-40B4-BE49-F238E27FC236}">
                <a16:creationId xmlns:a16="http://schemas.microsoft.com/office/drawing/2014/main" id="{E375F47C-D315-97A5-029A-02EB76A574B9}"/>
              </a:ext>
            </a:extLst>
          </p:cNvPr>
          <p:cNvSpPr txBox="1"/>
          <p:nvPr/>
        </p:nvSpPr>
        <p:spPr>
          <a:xfrm>
            <a:off x="2867202" y="1543663"/>
            <a:ext cx="6390969" cy="1323439"/>
          </a:xfrm>
          <a:prstGeom prst="rect">
            <a:avLst/>
          </a:prstGeom>
          <a:noFill/>
        </p:spPr>
        <p:txBody>
          <a:bodyPr wrap="square" rtlCol="0">
            <a:spAutoFit/>
          </a:bodyPr>
          <a:lstStyle/>
          <a:p>
            <a:r>
              <a:rPr lang="en-IN" sz="8000" b="1" dirty="0">
                <a:latin typeface="Stencil" panose="040409050D0802020404" pitchFamily="82" charset="0"/>
              </a:rPr>
              <a:t>THANKYOU</a:t>
            </a:r>
          </a:p>
        </p:txBody>
      </p:sp>
      <p:sp>
        <p:nvSpPr>
          <p:cNvPr id="5" name="TextBox 4">
            <a:extLst>
              <a:ext uri="{FF2B5EF4-FFF2-40B4-BE49-F238E27FC236}">
                <a16:creationId xmlns:a16="http://schemas.microsoft.com/office/drawing/2014/main" id="{16EFA97A-D97A-36BE-A080-8EA504D18D3F}"/>
              </a:ext>
            </a:extLst>
          </p:cNvPr>
          <p:cNvSpPr txBox="1"/>
          <p:nvPr/>
        </p:nvSpPr>
        <p:spPr>
          <a:xfrm>
            <a:off x="4329515" y="3990898"/>
            <a:ext cx="3344031" cy="954107"/>
          </a:xfrm>
          <a:prstGeom prst="rect">
            <a:avLst/>
          </a:prstGeom>
          <a:noFill/>
        </p:spPr>
        <p:txBody>
          <a:bodyPr wrap="square" rtlCol="0">
            <a:spAutoFit/>
          </a:bodyPr>
          <a:lstStyle/>
          <a:p>
            <a:pPr algn="ctr"/>
            <a:r>
              <a:rPr lang="en-IN" sz="2800" dirty="0">
                <a:latin typeface="Stencil" panose="040409050D0802020404" pitchFamily="82" charset="0"/>
              </a:rPr>
              <a:t>PRESENTED BY HIBA</a:t>
            </a:r>
          </a:p>
        </p:txBody>
      </p:sp>
      <p:pic>
        <p:nvPicPr>
          <p:cNvPr id="7" name="Graphic 6" descr="Heart with solid fill">
            <a:extLst>
              <a:ext uri="{FF2B5EF4-FFF2-40B4-BE49-F238E27FC236}">
                <a16:creationId xmlns:a16="http://schemas.microsoft.com/office/drawing/2014/main" id="{75833938-263F-ED1A-811B-815C0D6436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6746" y="1689188"/>
            <a:ext cx="861425" cy="894736"/>
          </a:xfrm>
          <a:prstGeom prst="rect">
            <a:avLst/>
          </a:prstGeom>
        </p:spPr>
      </p:pic>
    </p:spTree>
    <p:extLst>
      <p:ext uri="{BB962C8B-B14F-4D97-AF65-F5344CB8AC3E}">
        <p14:creationId xmlns:p14="http://schemas.microsoft.com/office/powerpoint/2010/main" val="10068763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409</Words>
  <Application>Microsoft Office PowerPoint</Application>
  <PresentationFormat>Widescreen</PresentationFormat>
  <Paragraphs>36</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Arial Black</vt:lpstr>
      <vt:lpstr>Arial Narrow</vt:lpstr>
      <vt:lpstr>Stencil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hibaarashid11@gmail.com</dc:creator>
  <cp:lastModifiedBy>918714140664</cp:lastModifiedBy>
  <cp:revision>2</cp:revision>
  <dcterms:created xsi:type="dcterms:W3CDTF">2025-09-25T06:27:32Z</dcterms:created>
  <dcterms:modified xsi:type="dcterms:W3CDTF">2026-01-13T06:10:11Z</dcterms:modified>
</cp:coreProperties>
</file>